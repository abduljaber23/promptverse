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eg"/><Relationship Id="rId2" Type="http://schemas.openxmlformats.org/officeDocument/2006/relationships/image" Target="../media/image-35-2.jpeg"/><Relationship Id="rId3" Type="http://schemas.openxmlformats.org/officeDocument/2006/relationships/image" Target="../media/image-35-3.jpeg"/><Relationship Id="rId4" Type="http://schemas.openxmlformats.org/officeDocument/2006/relationships/image" Target="../media/image-3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image" Target="../media/image-3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image" Target="../media/image-44-5.png"/><Relationship Id="rId6" Type="http://schemas.openxmlformats.org/officeDocument/2006/relationships/image" Target="../media/image-44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image" Target="../media/image-46-5.png"/><Relationship Id="rId6" Type="http://schemas.openxmlformats.org/officeDocument/2006/relationships/image" Target="../media/image-4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image" Target="../media/image-48-4.png"/><Relationship Id="rId5" Type="http://schemas.openxmlformats.org/officeDocument/2006/relationships/image" Target="../media/image-48-5.png"/><Relationship Id="rId6" Type="http://schemas.openxmlformats.org/officeDocument/2006/relationships/image" Target="../media/image-4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CONCEPTEUR DÉVELOPPEUR D’APPLICATIONS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3172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marketplace de prompts pour les IA génératives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B2333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840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promptverse.biz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9377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LAMALLEM AMINE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Simplon · Formation CDA · 2026</a:t>
            </a:r>
            <a:endParaRPr lang="en-US" sz="1600" dirty="0"/>
          </a:p>
        </p:txBody>
      </p:sp>
      <p:pic>
        <p:nvPicPr>
          <p:cNvPr id="8" name="Image 0" descr="/tmp/claude-1000/-home-abduljaber-formation-cda-projet-final-promptVerse/5eba1b07-3930-4f30-903f-f5f37cb75edb/scratchpad/amine/assets/cap_accueil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989197"/>
            <a:ext cx="5394960" cy="27881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SUIS-JE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23160" y="1920240"/>
            <a:ext cx="1371600" cy="13716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23160" y="1920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20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Amine LAMALLEM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023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Apprenant Concepteur Développeur d’Applications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389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Simplon · 2025 – 2026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0294" y="1898294"/>
            <a:ext cx="409651" cy="409651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269480" y="17190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Titre visé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269480" y="2103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Concepteur Développeur d’Applications — niveau 6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309360" y="306324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294" y="3224174"/>
            <a:ext cx="409651" cy="40965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269480" y="30449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chef-d’œuvre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7269480" y="34290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PromptVerse, réalisé en équipe de trois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309360" y="438912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294" y="4550054"/>
            <a:ext cx="409651" cy="40965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269480" y="43708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production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7269480" y="47548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https://promptverse.biz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/ 51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PROJET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L’équipe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508760" y="1828800"/>
            <a:ext cx="1737360" cy="17373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508760" y="18288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Abduljaber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4206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· Développement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17720" y="1828800"/>
            <a:ext cx="1737360" cy="173736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18288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Amine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4206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· Développement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26680" y="1828800"/>
            <a:ext cx="1737360" cy="1737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26680" y="18288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Anis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4206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· Développement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97280" y="4983480"/>
            <a:ext cx="8778240" cy="868680"/>
          </a:xfrm>
          <a:prstGeom prst="roundRect">
            <a:avLst>
              <a:gd name="adj" fmla="val 12632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80160" y="5102352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243044"/>
          </a:solidFill>
          <a:ln w="12700">
            <a:solidFill>
              <a:srgbClr val="243044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0978" y="5243170"/>
            <a:ext cx="358445" cy="358445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2103120" y="498348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Formateur Simplon : briefs de sprint, suivi et validation des livrables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/ 51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PROJET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PromptVerse, c’est quoi 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marketplace où chacun peut vendre ses prompts optimisés pour les IA génératives, et acheter ceux des autres pour gagner du temps.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65176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2812694"/>
            <a:ext cx="409651" cy="40965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611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1148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filtrables par catégorie et par outil IA (ChatGPT, Midjourney, Claude…)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64992" y="23774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39312" y="265176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246" y="2812694"/>
            <a:ext cx="409651" cy="40965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39312" y="3611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Publication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639312" y="41148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utilisateur publie ses prompts avec prix, aperçu et images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181344" y="23774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55664" y="265176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598" y="2812694"/>
            <a:ext cx="409651" cy="40965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55664" y="3611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Achat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6455664" y="41148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Paiement Stripe Checkout ; les prompts à 0 € sont gratuits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8997696" y="23774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272016" y="265176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2950" y="2812694"/>
            <a:ext cx="409651" cy="40965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72016" y="3611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9272016" y="41148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utilisateurs, des rôles, des catégories et des outils IA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 clé : le contenu payant d’un prompt reste invisible tant que l’achat n’est pas confirmé.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/ 51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PROJET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qui s’adresse la plateforme 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communauté digitale, créative et orientée productivité (20–40 ans).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4028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2401214"/>
            <a:ext cx="409651" cy="40965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154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Créateurs &amp; experts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7033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Créateurs de contenu, freelances et professionnels du web qui veulent rentabiliser leur expertise en ingénierie de prompts.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97680" y="19659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224028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934" y="2401214"/>
            <a:ext cx="409651" cy="40965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3154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Entrepreneurs &amp; pros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7033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Petites entreprises et indépendants qui cherchent des prompts prêts à l’emploi pour gagner du temps au quotidien.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46720" y="19659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21040" y="224028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974" y="2401214"/>
            <a:ext cx="409651" cy="40965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21040" y="3154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adopters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37033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Passionnés d’IA qui testent les nouveaux outils et veulent des exemples fiables pour progresser.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/ 51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LA PRÉSENTATION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18288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 et outils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788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49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37490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et back-end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7091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47091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828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18288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788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2788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3749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37490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et déploiement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7091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47091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Déroulement et démo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6 / 51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et outils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4617720"/>
          </a:xfrm>
          <a:prstGeom prst="roundRect">
            <a:avLst>
              <a:gd name="adj" fmla="val 3117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087EA4"/>
          </a:solidFill>
          <a:ln w="12700">
            <a:solidFill>
              <a:srgbClr val="087EA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567" y="2344887"/>
            <a:ext cx="266273" cy="26627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2402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288036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67" y="2984967"/>
            <a:ext cx="266273" cy="26627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8803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22960" y="352044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646CFF"/>
          </a:solidFill>
          <a:ln w="12700">
            <a:solidFill>
              <a:srgbClr val="646C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67" y="3625047"/>
            <a:ext cx="266273" cy="26627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35204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822960" y="416052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FF4154"/>
          </a:solidFill>
          <a:ln w="12700">
            <a:solidFill>
              <a:srgbClr val="FF4154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567" y="4265127"/>
            <a:ext cx="266273" cy="26627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63040" y="41605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 Query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822960" y="480060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567" y="4905207"/>
            <a:ext cx="266273" cy="266273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463040" y="48006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+ daisyUI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822960" y="544068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CA4245"/>
          </a:solidFill>
          <a:ln w="12700">
            <a:solidFill>
              <a:srgbClr val="CA4245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567" y="5545287"/>
            <a:ext cx="266273" cy="266273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463040" y="54406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4297680" y="1508760"/>
            <a:ext cx="3520440" cy="4617720"/>
          </a:xfrm>
          <a:prstGeom prst="roundRect">
            <a:avLst>
              <a:gd name="adj" fmla="val 3117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4572000" y="1691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Back-end</a:t>
            </a:r>
            <a:endParaRPr lang="en-US" sz="1800" dirty="0"/>
          </a:p>
        </p:txBody>
      </p:sp>
      <p:sp>
        <p:nvSpPr>
          <p:cNvPr id="26" name="Shape 18"/>
          <p:cNvSpPr/>
          <p:nvPr/>
        </p:nvSpPr>
        <p:spPr>
          <a:xfrm>
            <a:off x="4572000" y="224028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E0234E"/>
          </a:solidFill>
          <a:ln w="12700">
            <a:solidFill>
              <a:srgbClr val="E0234E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6607" y="2344887"/>
            <a:ext cx="266273" cy="266273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5212080" y="22402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NestJS 11</a:t>
            </a:r>
            <a:endParaRPr lang="en-US" sz="1500" dirty="0"/>
          </a:p>
        </p:txBody>
      </p:sp>
      <p:sp>
        <p:nvSpPr>
          <p:cNvPr id="29" name="Shape 20"/>
          <p:cNvSpPr/>
          <p:nvPr/>
        </p:nvSpPr>
        <p:spPr>
          <a:xfrm>
            <a:off x="4572000" y="288036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E83524"/>
          </a:solidFill>
          <a:ln w="12700">
            <a:solidFill>
              <a:srgbClr val="E83524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6607" y="2984967"/>
            <a:ext cx="266273" cy="266273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5212080" y="28803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TypeORM</a:t>
            </a:r>
            <a:endParaRPr lang="en-US" sz="1500" dirty="0"/>
          </a:p>
        </p:txBody>
      </p:sp>
      <p:sp>
        <p:nvSpPr>
          <p:cNvPr id="32" name="Shape 22"/>
          <p:cNvSpPr/>
          <p:nvPr/>
        </p:nvSpPr>
        <p:spPr>
          <a:xfrm>
            <a:off x="4572000" y="352044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00758F"/>
          </a:solidFill>
          <a:ln w="12700">
            <a:solidFill>
              <a:srgbClr val="00758F"/>
            </a:solidFill>
            <a:prstDash val="solid"/>
          </a:ln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6607" y="3625047"/>
            <a:ext cx="266273" cy="266273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5212080" y="35204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8.4</a:t>
            </a:r>
            <a:endParaRPr lang="en-US" sz="1500" dirty="0"/>
          </a:p>
        </p:txBody>
      </p:sp>
      <p:sp>
        <p:nvSpPr>
          <p:cNvPr id="35" name="Shape 24"/>
          <p:cNvSpPr/>
          <p:nvPr/>
        </p:nvSpPr>
        <p:spPr>
          <a:xfrm>
            <a:off x="4572000" y="416052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6607" y="4265127"/>
            <a:ext cx="266273" cy="266273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5212080" y="41605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+ bcrypt</a:t>
            </a:r>
            <a:endParaRPr lang="en-US" sz="1500" dirty="0"/>
          </a:p>
        </p:txBody>
      </p:sp>
      <p:sp>
        <p:nvSpPr>
          <p:cNvPr id="38" name="Shape 26"/>
          <p:cNvSpPr/>
          <p:nvPr/>
        </p:nvSpPr>
        <p:spPr>
          <a:xfrm>
            <a:off x="4572000" y="480060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635BFF"/>
          </a:solidFill>
          <a:ln w="12700">
            <a:solidFill>
              <a:srgbClr val="635BFF"/>
            </a:solidFill>
            <a:prstDash val="solid"/>
          </a:ln>
        </p:spPr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6607" y="4905207"/>
            <a:ext cx="266273" cy="266273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5212080" y="48006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500" dirty="0"/>
          </a:p>
        </p:txBody>
      </p:sp>
      <p:sp>
        <p:nvSpPr>
          <p:cNvPr id="41" name="Shape 28"/>
          <p:cNvSpPr/>
          <p:nvPr/>
        </p:nvSpPr>
        <p:spPr>
          <a:xfrm>
            <a:off x="4572000" y="544068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76607" y="5545287"/>
            <a:ext cx="266273" cy="266273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5212080" y="54406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Nodemailer / SMTP</a:t>
            </a:r>
            <a:endParaRPr lang="en-US" sz="1500" dirty="0"/>
          </a:p>
        </p:txBody>
      </p:sp>
      <p:sp>
        <p:nvSpPr>
          <p:cNvPr id="44" name="Shape 30"/>
          <p:cNvSpPr/>
          <p:nvPr/>
        </p:nvSpPr>
        <p:spPr>
          <a:xfrm>
            <a:off x="8046720" y="1508760"/>
            <a:ext cx="3520440" cy="4617720"/>
          </a:xfrm>
          <a:prstGeom prst="roundRect">
            <a:avLst>
              <a:gd name="adj" fmla="val 3117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45" name="Text 31"/>
          <p:cNvSpPr txBox="1"/>
          <p:nvPr/>
        </p:nvSpPr>
        <p:spPr>
          <a:xfrm>
            <a:off x="8321040" y="1691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et outils</a:t>
            </a:r>
            <a:endParaRPr lang="en-US" sz="1800" dirty="0"/>
          </a:p>
        </p:txBody>
      </p:sp>
      <p:sp>
        <p:nvSpPr>
          <p:cNvPr id="46" name="Shape 32"/>
          <p:cNvSpPr/>
          <p:nvPr/>
        </p:nvSpPr>
        <p:spPr>
          <a:xfrm>
            <a:off x="8321040" y="224028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25647" y="2344887"/>
            <a:ext cx="266273" cy="266273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8961120" y="22402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500" dirty="0"/>
          </a:p>
        </p:txBody>
      </p:sp>
      <p:sp>
        <p:nvSpPr>
          <p:cNvPr id="49" name="Shape 34"/>
          <p:cNvSpPr/>
          <p:nvPr/>
        </p:nvSpPr>
        <p:spPr>
          <a:xfrm>
            <a:off x="8321040" y="288036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2088FF"/>
          </a:solidFill>
          <a:ln w="12700">
            <a:solidFill>
              <a:srgbClr val="2088FF"/>
            </a:solidFill>
            <a:prstDash val="solid"/>
          </a:ln>
        </p:spPr>
      </p:sp>
      <p:pic>
        <p:nvPicPr>
          <p:cNvPr id="5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25647" y="2984967"/>
            <a:ext cx="266273" cy="266273"/>
          </a:xfrm>
          <a:prstGeom prst="rect">
            <a:avLst/>
          </a:prstGeom>
        </p:spPr>
      </p:pic>
      <p:sp>
        <p:nvSpPr>
          <p:cNvPr id="51" name="Text 35"/>
          <p:cNvSpPr txBox="1"/>
          <p:nvPr/>
        </p:nvSpPr>
        <p:spPr>
          <a:xfrm>
            <a:off x="8961120" y="28803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1500" dirty="0"/>
          </a:p>
        </p:txBody>
      </p:sp>
      <p:sp>
        <p:nvSpPr>
          <p:cNvPr id="52" name="Shape 36"/>
          <p:cNvSpPr/>
          <p:nvPr/>
        </p:nvSpPr>
        <p:spPr>
          <a:xfrm>
            <a:off x="8321040" y="352044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</p:sp>
      <p:pic>
        <p:nvPicPr>
          <p:cNvPr id="5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25647" y="3625047"/>
            <a:ext cx="266273" cy="266273"/>
          </a:xfrm>
          <a:prstGeom prst="rect">
            <a:avLst/>
          </a:prstGeom>
        </p:spPr>
      </p:pic>
      <p:sp>
        <p:nvSpPr>
          <p:cNvPr id="54" name="Text 37"/>
          <p:cNvSpPr txBox="1"/>
          <p:nvPr/>
        </p:nvSpPr>
        <p:spPr>
          <a:xfrm>
            <a:off x="8961120" y="35204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</a:t>
            </a:r>
            <a:endParaRPr lang="en-US" sz="1500" dirty="0"/>
          </a:p>
        </p:txBody>
      </p:sp>
      <p:sp>
        <p:nvSpPr>
          <p:cNvPr id="55" name="Shape 38"/>
          <p:cNvSpPr/>
          <p:nvPr/>
        </p:nvSpPr>
        <p:spPr>
          <a:xfrm>
            <a:off x="8321040" y="416052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F24E1E"/>
          </a:solidFill>
          <a:ln w="12700">
            <a:solidFill>
              <a:srgbClr val="F24E1E"/>
            </a:solidFill>
            <a:prstDash val="solid"/>
          </a:ln>
        </p:spPr>
      </p:sp>
      <p:pic>
        <p:nvPicPr>
          <p:cNvPr id="5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25647" y="4265127"/>
            <a:ext cx="266273" cy="266273"/>
          </a:xfrm>
          <a:prstGeom prst="rect">
            <a:avLst/>
          </a:prstGeom>
        </p:spPr>
      </p:pic>
      <p:sp>
        <p:nvSpPr>
          <p:cNvPr id="57" name="Text 39"/>
          <p:cNvSpPr txBox="1"/>
          <p:nvPr/>
        </p:nvSpPr>
        <p:spPr>
          <a:xfrm>
            <a:off x="8961120" y="41605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</a:t>
            </a:r>
            <a:endParaRPr lang="en-US" sz="1500" dirty="0"/>
          </a:p>
        </p:txBody>
      </p:sp>
      <p:sp>
        <p:nvSpPr>
          <p:cNvPr id="58" name="Shape 40"/>
          <p:cNvSpPr/>
          <p:nvPr/>
        </p:nvSpPr>
        <p:spPr>
          <a:xfrm>
            <a:off x="8321040" y="480060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85EA2D"/>
          </a:solidFill>
          <a:ln w="12700">
            <a:solidFill>
              <a:srgbClr val="85EA2D"/>
            </a:solidFill>
            <a:prstDash val="solid"/>
          </a:ln>
        </p:spPr>
      </p:sp>
      <p:pic>
        <p:nvPicPr>
          <p:cNvPr id="5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25647" y="4905207"/>
            <a:ext cx="266273" cy="266273"/>
          </a:xfrm>
          <a:prstGeom prst="rect">
            <a:avLst/>
          </a:prstGeom>
        </p:spPr>
      </p:pic>
      <p:sp>
        <p:nvSpPr>
          <p:cNvPr id="60" name="Text 41"/>
          <p:cNvSpPr txBox="1"/>
          <p:nvPr/>
        </p:nvSpPr>
        <p:spPr>
          <a:xfrm>
            <a:off x="8961120" y="48006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</a:t>
            </a:r>
            <a:endParaRPr lang="en-US" sz="1500" dirty="0"/>
          </a:p>
        </p:txBody>
      </p:sp>
      <p:sp>
        <p:nvSpPr>
          <p:cNvPr id="61" name="Shape 42"/>
          <p:cNvSpPr/>
          <p:nvPr/>
        </p:nvSpPr>
        <p:spPr>
          <a:xfrm>
            <a:off x="8321040" y="544068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pic>
        <p:nvPicPr>
          <p:cNvPr id="6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25647" y="5545287"/>
            <a:ext cx="266273" cy="266273"/>
          </a:xfrm>
          <a:prstGeom prst="rect">
            <a:avLst/>
          </a:prstGeom>
        </p:spPr>
      </p:pic>
      <p:sp>
        <p:nvSpPr>
          <p:cNvPr id="63" name="Text 43"/>
          <p:cNvSpPr txBox="1"/>
          <p:nvPr/>
        </p:nvSpPr>
        <p:spPr>
          <a:xfrm>
            <a:off x="8961120" y="54406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1500" dirty="0"/>
          </a:p>
        </p:txBody>
      </p:sp>
      <p:sp>
        <p:nvSpPr>
          <p:cNvPr id="64" name="Text 4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65" name="Text 45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7 / 51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et organisation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9796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810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212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Méthodologie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432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sprints avec revue à chaque fin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2200" y="155448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182880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0079BF"/>
          </a:solidFill>
          <a:ln w="12700">
            <a:solidFill>
              <a:srgbClr val="0079B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6" y="197967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60920" y="1810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Trello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7360920" y="2212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stories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446520" y="27432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par sprint, critères d’acceptation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384048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" y="411480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426567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737360" y="4096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1737360" y="4498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Versioning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" y="50292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Branches dev / main / deploy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172200" y="384048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46520" y="411480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396" y="4265676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360920" y="4096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OpenSpec</a:t>
            </a:r>
            <a:endParaRPr lang="en-US" sz="1900" dirty="0"/>
          </a:p>
        </p:txBody>
      </p:sp>
      <p:sp>
        <p:nvSpPr>
          <p:cNvPr id="26" name="Text 20"/>
          <p:cNvSpPr txBox="1"/>
          <p:nvPr/>
        </p:nvSpPr>
        <p:spPr>
          <a:xfrm>
            <a:off x="7360920" y="4498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Spécifications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6446520" y="50292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proposition versionnée par module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8 / 51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202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54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besoins aux modèles, avant la première ligne de code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503920" y="1737360"/>
            <a:ext cx="2926080" cy="2926080"/>
          </a:xfrm>
          <a:prstGeom prst="ellipse">
            <a:avLst/>
          </a:prstGeom>
          <a:solidFill>
            <a:srgbClr val="1B2333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1460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9 / 51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stories et rôles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 utilisateur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Parcourir et acheter des prompts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Publier ses propres contenus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Gérer son profil, ses ventes et ses achats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691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1031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 administrateur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56032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Toutes les fonctionnalités USER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Gérer les catégories et les outils IA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Consulter la liste des utilisateurs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4630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691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SUPER_ADMIN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1031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 super administrateur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56032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Toutes les permissions ADMIN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Modifier le rôle d’un utilisateur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Seul rôle habilité à promouvoir un admin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1109960" cy="1280160"/>
          </a:xfrm>
          <a:prstGeom prst="roundRect">
            <a:avLst>
              <a:gd name="adj" fmla="val 7143"/>
            </a:avLst>
          </a:prstGeom>
          <a:solidFill>
            <a:srgbClr val="0B112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020056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openspec/changes/module-orders-stripe-fullstack/specs/payment-processing/spec.md — critère d’acceptation (Gherkin)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330952"/>
            <a:ext cx="10652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#### Scenario: Checkout Session Creation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**GIVEN** an authenticated user with items in their cart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**WHEN** calling `POST /orders/checkout`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**THEN** the system MUST create an `Order` with status `PENDING`, create `OrderItem` records,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clear the user's cart, and return a Stripe Checkout URL.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10 / 51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· UML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Diagramme de cas d’utilisation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40664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</p:sp>
      <p:pic>
        <p:nvPicPr>
          <p:cNvPr id="5" name="Image 0" descr="/tmp/claude-1000/-home-abduljaber-formation-cda-projet-final-promptVerse/5eba1b07-3930-4f30-903f-f5f37cb75edb/scratchpad/amine/assets/use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006" y="1554480"/>
            <a:ext cx="6473907" cy="4572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21040" y="1828800"/>
            <a:ext cx="3383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acteurs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Stripe (système externe)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Héritage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visiteur → USER → ADMIN → SUPER_ADMIN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«include»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l’achat inclut la confirmation par webhook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11 / 51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· MERISE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conceptuel de données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</p:sp>
      <p:pic>
        <p:nvPicPr>
          <p:cNvPr id="5" name="Image 0" descr="/tmp/claude-1000/-home-abduljaber-formation-cda-projet-final-promptVerse/5eba1b07-3930-4f30-903f-f5f37cb75edb/scratchpad/amine/assets/mc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0829" y="1600200"/>
            <a:ext cx="7545581" cy="3840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0644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ACHÈTE porte ses propres données (montant, statut, session Stripe) → devient la table purchases dans le MLD.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12 / 51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· MERISE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physique de données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6751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</p:sp>
      <p:pic>
        <p:nvPicPr>
          <p:cNvPr id="5" name="Image 0" descr="/tmp/claude-1000/-home-abduljaber-formation-cda-projet-final-promptVerse/5eba1b07-3930-4f30-903f-f5f37cb75edb/scratchpad/amine/assets/e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0683" y="1554480"/>
            <a:ext cx="4071033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543800" y="1737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tables MySQL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543800" y="21214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relationnelle normalisée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543800" y="2834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Identifiants UUID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543800" y="321868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clés primaires non devinables (v4)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543800" y="3931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Montants DECIMAL(10,2)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543800" y="43159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précision exacte pour les paiements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543800" y="5029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Migrations TypeORM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543800" y="54132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schéma est versionné avec le code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13 / 51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· UML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Diagramme de classes UML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6751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</p:sp>
      <p:pic>
        <p:nvPicPr>
          <p:cNvPr id="5" name="Image 0" descr="/tmp/claude-1000/-home-abduljaber-formation-cda-projet-final-promptVerse/5eba1b07-3930-4f30-903f-f5f37cb75edb/scratchpad/amine/assets/clas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5291" y="1554480"/>
            <a:ext cx="4301819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54380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et entités clés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543800" y="210312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Cœur métier : Prompt, Category, AiTool, PreviewImage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Utilisateurs : User, UserProfile, SocialLink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 : Purchase, avec le suivi du paiement Stripe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543800" y="3977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 et typage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543800" y="438912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Découplage entre le compte et les données de profil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Énumérations : UserRoles, PromptStatus, PurchaseStatus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Suppression logique (deletedAt) sur les entités principales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14 / 51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· UX/UI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 graphique et accessibilité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Palette du thème sombre, vérifiée avec les ratios de contraste WCAG.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94560"/>
            <a:ext cx="2057400" cy="1097280"/>
          </a:xfrm>
          <a:prstGeom prst="roundRect">
            <a:avLst>
              <a:gd name="adj" fmla="val 8333"/>
            </a:avLst>
          </a:prstGeom>
          <a:solidFill>
            <a:srgbClr val="0E12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4290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#0E1217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 sombre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06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17.5:1 (AAA)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64992" y="192024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9312" y="2194560"/>
            <a:ext cx="2057400" cy="1097280"/>
          </a:xfrm>
          <a:prstGeom prst="roundRect">
            <a:avLst>
              <a:gd name="adj" fmla="val 8333"/>
            </a:avLst>
          </a:prstGeom>
          <a:solidFill>
            <a:srgbClr val="1E263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39312" y="34290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#1E2631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37947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/ cartes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39312" y="4206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11.2:1 (AAA)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81344" y="192024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55664" y="2194560"/>
            <a:ext cx="2057400" cy="1097280"/>
          </a:xfrm>
          <a:prstGeom prst="roundRect">
            <a:avLst>
              <a:gd name="adj" fmla="val 8333"/>
            </a:avLst>
          </a:prstGeom>
          <a:solidFill>
            <a:srgbClr val="6366F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55664" y="34290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#6366F1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55664" y="37947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 violet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55664" y="4206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4.6:1 (AA)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997696" y="192024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72016" y="2194560"/>
            <a:ext cx="2057400" cy="1097280"/>
          </a:xfrm>
          <a:prstGeom prst="roundRect">
            <a:avLst>
              <a:gd name="adj" fmla="val 8333"/>
            </a:avLst>
          </a:prstGeom>
          <a:solidFill>
            <a:srgbClr val="0077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72016" y="34290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#0077FF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72016" y="37947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/ primaire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272016" y="4206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4.8:1 (AA)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12064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Typographie Inter · composants daisyUI · interface responsive du mobile au grand écran.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15 / 51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· UX/UI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Maquette de l’interface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68096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</p:sp>
      <p:pic>
        <p:nvPicPr>
          <p:cNvPr id="5" name="Image 0" descr="/tmp/claude-1000/-home-abduljaber-formation-cda-projet-final-promptVerse/5eba1b07-3930-4f30-903f-f5f37cb75edb/scratchpad/amine/assets/maquette_fig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215" y="1508760"/>
            <a:ext cx="6991811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49640" y="2011680"/>
            <a:ext cx="3154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 basse fidélité pour placer les zones de la page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Maquettes des écrans d’inscription et de connexion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Thème sombre, accent bleu, composants réutilisables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captures de la section Front-end montrent le résultat réel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264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Maquettes réalisées sous Figma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16 / 51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· MÉTHODE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Spec &amp; Context 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4709160"/>
          </a:xfrm>
          <a:prstGeom prst="roundRect">
            <a:avLst>
              <a:gd name="adj" fmla="val 3117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64208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784909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81328" y="16642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Définition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95728"/>
            <a:ext cx="3017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OpenSpec est un outil de spec-driven development : la fonctionnalité est décrite dans des fichiers versionnés avant d’être codée.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dossier par module : proposal.md (le besoin), design.md, specs/ (les critères) et tasks.md (le découpage).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Context IA est le bloc context: de config.yaml : il donne au modèle le projet, la stack et les règles métier.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417320"/>
            <a:ext cx="3520440" cy="4709160"/>
          </a:xfrm>
          <a:prstGeom prst="roundRect">
            <a:avLst>
              <a:gd name="adj" fmla="val 3117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664208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701" y="17849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30368" y="16642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Pourquoi &amp; Comment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37744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2670048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Spécifier avant de coder évite d’implémenter une interprétation du besoin.</a:t>
            </a:r>
            <a:endParaRPr lang="en-US" sz="12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critères d’acceptation deviennent la liste des tests.</a:t>
            </a:r>
            <a:endParaRPr lang="en-US" sz="12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contexte partagé garde l’IA dans notre stack et nos règles.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448056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4773168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proposition versionnée par module, à côté du code.</a:t>
            </a:r>
            <a:endParaRPr lang="en-US" sz="12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Critères écrits en Gherkin : GIVEN / WHEN / THEN.</a:t>
            </a:r>
            <a:endParaRPr lang="en-US" sz="12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Règles déclarées une seule fois dans config.yaml.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46720" y="1417320"/>
            <a:ext cx="3520440" cy="4709160"/>
          </a:xfrm>
          <a:prstGeom prst="roundRect">
            <a:avLst>
              <a:gd name="adj" fmla="val 3117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21040" y="1664208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741" y="1784909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979408" y="16642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Exemple concret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2395728"/>
            <a:ext cx="3017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config.yaml : schéma, contexte projet et règles de rédaction.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spec.md : les scénarios de paiement et de déblocage du contenu.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tasks.md : les tâches numérotées, cochées au fur et à mesure.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Voir les deux diapositives suivantes.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17 / 51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· MÉTHODE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Spec : le contexte donné à l’IA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589520" cy="4709160"/>
          </a:xfrm>
          <a:prstGeom prst="roundRect">
            <a:avLst>
              <a:gd name="adj" fmla="val 1942"/>
            </a:avLst>
          </a:prstGeom>
          <a:solidFill>
            <a:srgbClr val="0B112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4533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openspec/config.yaml (extrait)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56232"/>
            <a:ext cx="713232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schema: spec-driven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Project Context for OpenSpec &amp; AI Assistants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|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Project: PromptVerse — Marketplace de Prompts IA (ChatGPT, Midjourney, DALL-E, Claude, etc.)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Certification: Titre Professionnel CDA (Concepteur Développeur d'Applications - RNCP 37873)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Architecture &amp; Domain Rules: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- 3 Roles: USER (Achète ET Vend des prompts), ADMIN (Gestion &amp; Modération),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SUPER_ADMIN (Administration Système).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Publication Directe: Les prompts créés par un USER passent immédiatement au statut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'PUBLISHED' (ou 'ARCHIVED'). Pas de statut DRAFT ni PENDING.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Confidentialité du Contenu: Le champ 'promptContent' est masqué et accessible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UNIQUEMENT après validation d'une commande.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proposal: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"Focus on Spec-Driven Development: clear goals, scope, and non-goals."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"Always keep security (OWASP) and JWT RBAC permissions in mind."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specs: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"Write functional requirements with Given-When-Then (Gherkin) acceptance criteria."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tasks: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"Break implementation into small, testable chunks (module by module)."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321040" y="1417320"/>
            <a:ext cx="3337560" cy="4709160"/>
          </a:xfrm>
          <a:prstGeom prst="roundRect">
            <a:avLst>
              <a:gd name="adj" fmla="val 3288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16916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6178" y="1832458"/>
            <a:ext cx="358445" cy="35844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418320" y="1691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ça change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0" y="251460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L’IA connaît les rôles, les règles métier et la stack du projet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réponses restent dans notre architecture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proposition de l’IA est relue, testée et validée par nous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décision finale reste humaine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21792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Remarque : ce fichier date du cadrage ; certains choix ont évolué depuis (Redis a été retiré, le stockage est passé sur disque local).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18 / 51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· MÉTHODE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Spec : de la spécification aux tâches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2286000"/>
          </a:xfrm>
          <a:prstGeom prst="roundRect">
            <a:avLst>
              <a:gd name="adj" fmla="val 4000"/>
            </a:avLst>
          </a:prstGeom>
          <a:solidFill>
            <a:srgbClr val="0B112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45336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openspec/changes/module-orders-stripe-fullstack/proposal.md (extrait)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56232"/>
            <a:ext cx="10652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Why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 the shopping cart and checkout process to allow users to purchase prompts,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generating revenue for sellers. This integrates Stripe Checkout for processing payments.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What Changes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**Backend**: Integrate Stripe SDK to create Checkout Sessions (`POST /orders/checkout`).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**Backend**: Implement Stripe Webhook (`POST /stripe/webhook`) to handle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`checkout.session.completed` events and mark orders as `PAID`.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Modified Capabilities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`content-masking`: Modification of the Prompt retrieval logic to return the full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`promptContent` if the authenticated user has a `PAID` order containing the `prompt_id`.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3886200"/>
            <a:ext cx="6949440" cy="2194560"/>
          </a:xfrm>
          <a:prstGeom prst="roundRect">
            <a:avLst>
              <a:gd name="adj" fmla="val 4167"/>
            </a:avLst>
          </a:prstGeom>
          <a:solidFill>
            <a:srgbClr val="0B112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401421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tasks.md (extrait)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325112"/>
            <a:ext cx="6492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2. Backend Stripe Integration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[ ] 2.1 Install `stripe` SDK.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[ ] 2.2 Implement `POST /orders/checkout` to build line items and return a Stripe Session URL.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[ ] 2.3 Implement `POST /stripe/webhook` with raw body parsing to validate signatures.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[ ] 2.4 Add logic to update `Order` status to `PAID` on webhook success.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26680" y="3886200"/>
            <a:ext cx="3931920" cy="2194560"/>
          </a:xfrm>
          <a:prstGeom prst="roundRect">
            <a:avLst>
              <a:gd name="adj" fmla="val 5000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55280" y="41148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098" y="4255618"/>
            <a:ext cx="358445" cy="35844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8778240" y="4114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spec au code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493776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spécification parlait de panier et de commandes. À l’implémentation, nous avons simplifié : un achat = un prompt, dans la table purchases. La spec a servi de base de discussion, pas de contrat figé.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19 / 51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202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54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et back-end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NestJS organisée en couches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503920" y="1737360"/>
            <a:ext cx="2926080" cy="2926080"/>
          </a:xfrm>
          <a:prstGeom prst="ellipse">
            <a:avLst/>
          </a:prstGeom>
          <a:solidFill>
            <a:srgbClr val="1B2333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1460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20 / 51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 l’application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</p:sp>
      <p:pic>
        <p:nvPicPr>
          <p:cNvPr id="5" name="Image 0" descr="/tmp/claude-1000/-home-abduljaber-formation-cda-projet-final-promptVerse/5eba1b07-3930-4f30-903f-f5f37cb75edb/scratchpad/amine/assets/arc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609" y="1645920"/>
            <a:ext cx="10688022" cy="3566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623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Découplée :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front ne parle qu’à l’API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297680" y="5623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seul point d’entrée :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en HTTPS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5623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centralisée :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toutes les règles côté serveur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21 / 51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Circulation d’une requête dans l’API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05740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9654" y="2218334"/>
            <a:ext cx="409651" cy="4096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Contrôleur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HTTP, guards, délègue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578608" y="2907792"/>
            <a:ext cx="237744" cy="219456"/>
          </a:xfrm>
          <a:prstGeom prst="rightArrow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34640" y="182880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74720" y="205740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654" y="2218334"/>
            <a:ext cx="409651" cy="40965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2608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DTO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292608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 les données entrantes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864608" y="2907792"/>
            <a:ext cx="237744" cy="219456"/>
          </a:xfrm>
          <a:prstGeom prst="rightArrow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120640" y="182880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60720" y="205740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654" y="2218334"/>
            <a:ext cx="409651" cy="40965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1208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521208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Règles métier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7150608" y="2907792"/>
            <a:ext cx="237744" cy="219456"/>
          </a:xfrm>
          <a:prstGeom prst="rightArrow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06640" y="182880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46720" y="205740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7654" y="2218334"/>
            <a:ext cx="409651" cy="409651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9808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749808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TypeORM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9436608" y="2907792"/>
            <a:ext cx="237744" cy="219456"/>
          </a:xfrm>
          <a:prstGeom prst="rightArrow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692640" y="182880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332720" y="2057400"/>
            <a:ext cx="731520" cy="731520"/>
          </a:xfrm>
          <a:prstGeom prst="roundRect">
            <a:avLst>
              <a:gd name="adj" fmla="val 17500"/>
            </a:avLst>
          </a:prstGeom>
          <a:solidFill>
            <a:srgbClr val="00758F"/>
          </a:solidFill>
          <a:ln w="12700">
            <a:solidFill>
              <a:srgbClr val="00758F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3654" y="2218334"/>
            <a:ext cx="409651" cy="409651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78408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978408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persistées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548640" y="4572000"/>
            <a:ext cx="11109960" cy="1554480"/>
          </a:xfrm>
          <a:prstGeom prst="roundRect">
            <a:avLst>
              <a:gd name="adj" fmla="val 5882"/>
            </a:avLst>
          </a:prstGeom>
          <a:solidFill>
            <a:srgbClr val="0B112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777240" y="4700016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 : l’achat d’un prompt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777240" y="5010912"/>
            <a:ext cx="10652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/api/v1/purchases/checkout-session  { "promptId": "…"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AuthGuard (cookie JWT)  → ValidationPipe (CreateCheckoutSessionDto : UUID)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PurchasesController.createCheckoutSession()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PurchasesService (règles métier)  → Repository&lt;Purchase&gt;  → MySQL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22 / 51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BACK-END · SÉCURITÉ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 : JWT en cookie httpOnly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223760" cy="4754880"/>
          </a:xfrm>
          <a:prstGeom prst="roundRect">
            <a:avLst>
              <a:gd name="adj" fmla="val 1923"/>
            </a:avLst>
          </a:prstGeom>
          <a:solidFill>
            <a:srgbClr val="0B112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9105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apps/api/src/modules/auth/auth.controller.ts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01952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@Post('login')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@Throttle({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short: { limit: 2, ttl: 1000 },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medium: { limit: 5, ttl: 60000, blockDuration: 15 * 60 * 1000 },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long: { limit: 20, ttl: 3600000 },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@Public()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@HttpCode(HttpStatus.OK)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login(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@Body() loginDto: LoginDto,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@Res({ passthrough: true }) res: Response,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accessToken } = await this.authService.login(loginDto);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res.cookie('access_token', accessToken,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httpOnly: true,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secure: process.env.NODE_ENV === 'production',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sameSite: 'lax',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maxAge: 1000 * 60 * 60 * 24,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message: 'Login successful' };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1645920"/>
            <a:ext cx="3566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 10, mot de passe jamais renvoyé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vérifié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obligatoire pour se connecter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 httpOnly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protège le jeton en cas de XSS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global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 route est privée sauf @Public()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Throttling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essais/min puis blocage 15 min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23 / 51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BACK-END · DONNÉES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Entité Prompt (TypeORM)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315200" cy="4754880"/>
          </a:xfrm>
          <a:prstGeom prst="roundRect">
            <a:avLst>
              <a:gd name="adj" fmla="val 1923"/>
            </a:avLst>
          </a:prstGeom>
          <a:solidFill>
            <a:srgbClr val="0B112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9105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apps/api/src/modules/prompts/entities/prompt.entity.ts (extrait)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01952"/>
            <a:ext cx="6858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@Entity('prompts')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 Prompt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@PrimaryGeneratedColumn('uuid')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string;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@Column({ type: 'varchar', length: 255 })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string;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@Column({ type: 'varchar', length: 255, unique: true })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slug: string;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@Column({ type: 'text' })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promptContent: string;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@Column({ type: 'decimal', precision: 10, scale: 2 })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price: string;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@Column({ type: 'enum', enum: PromptStatus, default: PromptStatus.PUBLISHED })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PromptStatus;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@ManyToOne(() =&gt; User, (user) =&gt; user.prompts, { onDelete: 'RESTRICT' })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@JoinColumn({ name: 'sellerId' })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seller: User;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183880" y="1737360"/>
            <a:ext cx="3520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classe = une table.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L’entité décrit les colonnes et les relations.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slug unique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l’URL publique du prompt.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decimal(10,2)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pas d’erreur d’arrondi sur les prix.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impossible de supprimer un vendeur qui a des prompts, l’historique est préservé.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24 / 51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BACK-END · DONNÉES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code TypeORM à la requête SQL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0B112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910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apps/api/src/modules/prompts/prompts.service.ts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01952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findAll(pageNumber: number, promptsPerPage: number)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this.promptsRepository.find({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select: PromptsService.LIST_SELECT,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where: { status: PromptStatus.PUBLISHED },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skip: promptsPerPage * (pageNumber - 1),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take: promptsPerPage,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order: { createdAt: 'DESC' },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0B112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5910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 SQL générée par TypeORM (page 2 du catalogue)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901952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id, title, slug, previewResult, coverImage,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price, salesCount, status, createdAt,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sellerId, categoryId, aiToolId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prompts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status = 'PUBLISHED'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createdAt DESC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10 OFFSET 10;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11109960" cy="2011680"/>
          </a:xfrm>
          <a:prstGeom prst="roundRect">
            <a:avLst>
              <a:gd name="adj" fmla="val 5455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434340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4494276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691640" y="43434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passer par l’ORM ?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5166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valeurs sont envoyées en paramètres : pas d’injection SQL possible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colonne promptContent n’est même pas demandée dans les listes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typage TypeScript protège des fautes de nom de colonne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schéma évolue par migrations versionnées, pas à la main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25 / 51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 métier : protéger le contenu payant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949440" cy="3840480"/>
          </a:xfrm>
          <a:prstGeom prst="roundRect">
            <a:avLst>
              <a:gd name="adj" fmla="val 2381"/>
            </a:avLst>
          </a:prstGeom>
          <a:solidFill>
            <a:srgbClr val="0B112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9105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prompts.service.ts — findOneBySlug()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01952"/>
            <a:ext cx="6492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isOwner = currentUserId === prompt.sellerId;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isFree = PromptsService.isFree(prompt.price);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hasPurchased =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!isOwner &amp;&amp; !isFree &amp;&amp; currentUserId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await this.hasCompletedPurchase(currentUserId, prompt.id)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false;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canViewFullContent = isOwner || isFree || hasPurchased;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...prompt,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promptContent: canViewFullContent ? prompt.promptContent : null,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isPurchasedByCurrentUser: hasPurchased,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voit le contenu 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863840" y="2011680"/>
            <a:ext cx="3794760" cy="548640"/>
          </a:xfrm>
          <a:prstGeom prst="roundRect">
            <a:avLst>
              <a:gd name="adj" fmla="val 20000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Visiteur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332720" y="2011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63840" y="2670048"/>
            <a:ext cx="3794760" cy="548640"/>
          </a:xfrm>
          <a:prstGeom prst="roundRect">
            <a:avLst>
              <a:gd name="adj" fmla="val 20000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26700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 sans achat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332720" y="267004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0" y="3328416"/>
            <a:ext cx="3794760" cy="548640"/>
          </a:xfrm>
          <a:prstGeom prst="roundRect">
            <a:avLst>
              <a:gd name="adj" fmla="val 20000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0" y="33284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Vendeur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332720" y="33284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863840" y="3986784"/>
            <a:ext cx="3794760" cy="548640"/>
          </a:xfrm>
          <a:prstGeom prst="roundRect">
            <a:avLst>
              <a:gd name="adj" fmla="val 20000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0" y="398678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Achat COMPLETED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332720" y="398678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863840" y="4645152"/>
            <a:ext cx="3794760" cy="548640"/>
          </a:xfrm>
          <a:prstGeom prst="roundRect">
            <a:avLst>
              <a:gd name="adj" fmla="val 20000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0" y="46451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gratuit (0 €)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332720" y="464515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dans les listes du catalogue, la colonne n’est même pas lue en base (sélection explicite des colonnes).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26 / 51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BACK-END · PAIEMENT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Paiement Stripe et webhook idempotent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4709160"/>
          </a:xfrm>
          <a:prstGeom prst="roundRect">
            <a:avLst>
              <a:gd name="adj" fmla="val 3117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64208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784909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81328" y="16642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Définition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95728"/>
            <a:ext cx="3017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Checkout : une page de paiement hébergée par Stripe ; la carte n’est jamais saisie sur notre site.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: requête HTTP envoyée par Stripe à notre API pour annoncer checkout.session.completed.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Idempotent : rejouer le même événement donne le même résultat qu’une seule exécution.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417320"/>
            <a:ext cx="3520440" cy="4709160"/>
          </a:xfrm>
          <a:prstGeom prst="roundRect">
            <a:avLst>
              <a:gd name="adj" fmla="val 3117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664208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701" y="17849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30368" y="16642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Pourquoi &amp; Comment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37744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2670048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donnée bancaire chez nous : la conformité PCI-DSS reste chez Stripe.</a:t>
            </a:r>
            <a:endParaRPr lang="en-US" sz="12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navigateur n’est pas fiable : seul le webhook signé valide un achat.</a:t>
            </a:r>
            <a:endParaRPr lang="en-US" sz="12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peut rejouer un événement : sinon le vendeur serait payé deux fois.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448056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4773168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Règles métier vérifiées avant tout appel à Stripe.</a:t>
            </a:r>
            <a:endParaRPr lang="en-US" sz="12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Achat PENDING, puis session Checkout signée.</a:t>
            </a:r>
            <a:endParaRPr lang="en-US" sz="12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l’achat est déjà COMPLETED, on ne fait rien.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46720" y="1417320"/>
            <a:ext cx="3520440" cy="4709160"/>
          </a:xfrm>
          <a:prstGeom prst="roundRect">
            <a:avLst>
              <a:gd name="adj" fmla="val 3117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21040" y="1664208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741" y="1784909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979408" y="16642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Exemple concret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2395728"/>
            <a:ext cx="3017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createCheckoutSession() : les règles métier et la création de la session.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handleWebhookEvent() / completePurchase() : la confirmation idempotente.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unitaire dédié à l’idempotence.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Voir les deux diapositives suivantes.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27 / 51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BACK-END · PAIEMENT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: création de la session de paiement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035040" cy="4754880"/>
          </a:xfrm>
          <a:prstGeom prst="roundRect">
            <a:avLst>
              <a:gd name="adj" fmla="val 1923"/>
            </a:avLst>
          </a:prstGeom>
          <a:solidFill>
            <a:srgbClr val="0B112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45336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purchases.service.ts — createCheckoutSession() (1/2)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56232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createCheckoutSession(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buyerId: string,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promptId: string,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Promise&lt;{ url: string }&gt;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prompt = await this.promptsService.findByIdForPurchase(promptId);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Un prompt gratuit se débloque directement à la lecture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(PromptsService.findOneBySlug) — jamais via Stripe.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(PromptsService.isFree(prompt.price))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BadRequestException({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code: ErrorCodes.PROMPT_IS_FREE,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(prompt.sellerId === buyerId)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BadRequestException({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code: ErrorCodes.CANNOT_PURCHASE_OWN_PROMPT,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alreadyPurchased = await this.promptsService.hasCompletedPurchase(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buyerId,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promptId,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(alreadyPurchased)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ConflictException({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code: ErrorCodes.PROMPT_ALREADY_PURCHASED,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12280" y="1417320"/>
            <a:ext cx="4846320" cy="4754880"/>
          </a:xfrm>
          <a:prstGeom prst="roundRect">
            <a:avLst>
              <a:gd name="adj" fmla="val 1923"/>
            </a:avLst>
          </a:prstGeom>
          <a:solidFill>
            <a:srgbClr val="0B112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0" y="15453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purchases.service.ts (2/2)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1856232"/>
            <a:ext cx="4389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Réutilise une tentative PENDING existante plutôt que d'empiler les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lignes à chaque nouveau clic sur "Acheter" (retry après abandon).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purchase = await this.purchasesRepository.findOne({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where: { buyerId, promptId, status: PurchaseStatus.PENDING },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purchase ??= await this.purchasesRepository.save(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this.purchasesRepository.create({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buyerId,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promptId,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sellerId: prompt.sellerId,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amount: prompt.price,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stripeCheckoutSessionId: `pending-${buyerId}-${promptId}-${Date.now()}`,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status: PurchaseStatus.PENDING,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session = await this.stripeService.createCheckoutSession({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mode: 'payment',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line_items: [{ quantity: 1, price_data: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currency: 'eur',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unit_amount: PurchasesService.eurosToCents(prompt.price),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product_data: { name: prompt.title } } }],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success_url: `${clientUrl}/purchases/success?session_id={CHECKOUT_SESSION_ID}`,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cancel_url: `${clientUrl}/prompts/${prompt.slug}`,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client_reference_id: buyerId,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metadata: { buyerId, promptId, purchaseId: purchase.id },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28 / 51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BACK-END · PAIEMENT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: webhook signé et idempotent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669280" cy="2926080"/>
          </a:xfrm>
          <a:prstGeom prst="roundRect">
            <a:avLst>
              <a:gd name="adj" fmla="val 3125"/>
            </a:avLst>
          </a:prstGeom>
          <a:solidFill>
            <a:srgbClr val="0B112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4533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purchases.controller.ts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56232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@Post('webhook')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@Public()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@SkipThrottle()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@HttpCode(HttpStatus.OK)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handleWebhook(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@Req() req: RawBodyRequest&lt;Request&gt;,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@Headers('stripe-signature') signature: string | undefined,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(!req.rawBody || !signature)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BadRequestException('Missing Stripe signature or body');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this.purchasesService.handleWebhookEvent(req.rawBody, signature);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received: true };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46520" y="141732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0B112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0" y="154533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purchases.service.ts — completePurchase()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1856232"/>
            <a:ext cx="4754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async completePurchase(session: Stripe.Checkout.Session)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purchase = await this.purchasesRepository.findOne({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where: { stripeCheckoutSessionId: session.id },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(!purchase)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this.logger.warn(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`Aucun achat trouvé pour la session Stripe ${session.id}`,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Idempotence : Stripe peut renvoyer le même événement plusieurs fois.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(purchase.status === PurchaseStatus.COMPLETED)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purchase.status = PurchaseStatus.COMPLETED;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this.purchasesRepository.save(purchase);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this.promptsService.incrementSalesCount(purchase.promptId);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seller = await this.usersService.findById(purchase.sellerId);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(seller)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seller.balance = Number(seller.balance) + Number(purchase.amount);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this.usersService.save(seller);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5669280" cy="1600200"/>
          </a:xfrm>
          <a:prstGeom prst="roundRect">
            <a:avLst>
              <a:gd name="adj" fmla="val 6857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48006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4941418"/>
            <a:ext cx="358445" cy="35844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600200" y="48006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vérifiée sur le corps brut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54864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NestJS parse le JSON de toutes les requêtes. L’option rawBody garde le texte exact envoyé par Stripe, seul moyen de recalculer la signature.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29 / 51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BACK-END · EMAILS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SMTP : l’envoi des emails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4709160"/>
          </a:xfrm>
          <a:prstGeom prst="roundRect">
            <a:avLst>
              <a:gd name="adj" fmla="val 3117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64208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784909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81328" y="16642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Définition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95728"/>
            <a:ext cx="3017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SMTP (Simple Mail Transfer Protocol) : le protocole standard d’envoi d’emails vers un serveur de messagerie.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API est un client SMTP : elle se connecte à un serveur (hôte, port, identifiants) et lui confie le message.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MailModule s’appuie sur @nestjs-modules/mailer et Nodemailer, avec des gabarits EJS.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417320"/>
            <a:ext cx="3520440" cy="4709160"/>
          </a:xfrm>
          <a:prstGeom prst="roundRect">
            <a:avLst>
              <a:gd name="adj" fmla="val 3117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664208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701" y="17849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30368" y="16642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Pourquoi &amp; Comment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37744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2670048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parcours en dépendent : vérification de l’email et mot de passe oublié.</a:t>
            </a:r>
            <a:endParaRPr lang="en-US" sz="12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compte non vérifié ne peut pas se connecter : l’email fait partie de la sécurité.</a:t>
            </a:r>
            <a:endParaRPr lang="en-US" sz="12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Envoyer de vrais emails en dev serait lent et risqué.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448056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4773168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par variables d’environnement, validées par Joi.</a:t>
            </a:r>
            <a:endParaRPr lang="en-US" sz="12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dev : conteneur Mailpit (interface web, port 8025).</a:t>
            </a:r>
            <a:endParaRPr lang="en-US" sz="12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prod : un vrai serveur SMTP, sans changer de code.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46720" y="1417320"/>
            <a:ext cx="3520440" cy="4709160"/>
          </a:xfrm>
          <a:prstGeom prst="roundRect">
            <a:avLst>
              <a:gd name="adj" fmla="val 3117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21040" y="1664208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741" y="1784909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979408" y="16642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Exemple concret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2395728"/>
            <a:ext cx="3017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mail.module.ts : le transport SMTP et les gabarits.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mail.service.ts : l’envoi du mail de vérification.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verify-email.ejs : le gabarit du message.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Voir la diapositive suivante.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30 / 51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BACK-END · EMAILS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SMTP : configuration et envoi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943600" cy="4754880"/>
          </a:xfrm>
          <a:prstGeom prst="roundRect">
            <a:avLst>
              <a:gd name="adj" fmla="val 1923"/>
            </a:avLst>
          </a:prstGeom>
          <a:solidFill>
            <a:srgbClr val="0B112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453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apps/api/src/modules/mail/mail.module.ts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56232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MailerModule.forRootAsync({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inject: [ConfigService],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useFactory: (config: ConfigService) =&gt;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transport: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host: config.get&lt;string&gt;('SMTP_HOST'),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port: config.get&lt;number&gt;('SMTP_PORT'),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secure: false,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auth: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user: config.get&lt;string&gt;('SMTP_USERNAME'),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pass: config.get&lt;string&gt;('SMTP_PASSWORD'),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defaults: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from: `"${config.get&lt;string&gt;('SMTP_FROM_NAME')}" &lt;${config.get&lt;string&gt;('SMTP_FROM')}&gt;`,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template: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dir: join(__dirname, 'templates'),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adapter: new EjsAdapter({ inlineCssEnabled: true }),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}),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20840" y="1417320"/>
            <a:ext cx="4937760" cy="3246120"/>
          </a:xfrm>
          <a:prstGeom prst="roundRect">
            <a:avLst>
              <a:gd name="adj" fmla="val 2817"/>
            </a:avLst>
          </a:prstGeom>
          <a:solidFill>
            <a:srgbClr val="0B112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49440" y="15453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mail.service.ts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1856232"/>
            <a:ext cx="4480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sendVerifyEmailTemplate(email: string, link: string)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this.mailerService.sendMail({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to: email,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subject: 'Verify your account',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template: 'verify-email',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context: { link },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error = e as Error;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this.logger.error(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`Error sending verify email: ${error.message}`,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error.stack,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InternalServerErrorException({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code: ErrorCodes.EMAIL_SEND_FAILED,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20840" y="4846320"/>
            <a:ext cx="4937760" cy="1325880"/>
          </a:xfrm>
          <a:prstGeom prst="roundRect">
            <a:avLst>
              <a:gd name="adj" fmla="val 6897"/>
            </a:avLst>
          </a:prstGeom>
          <a:solidFill>
            <a:srgbClr val="0B112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0" y="49743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docker-compose.dev.yml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528523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mailpit: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image: axllent/mailpit:latest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container_name: promptverse_mailpit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ports: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"${MAILPIT_SMTP_PORT:-1025}:1025"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"${MAILPIT_UI_PORT:-8025}:8025"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31 / 51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202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54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monopage React 19 + TypeScript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503920" y="1737360"/>
            <a:ext cx="2926080" cy="2926080"/>
          </a:xfrm>
          <a:prstGeom prst="ellipse">
            <a:avLst/>
          </a:prstGeom>
          <a:solidFill>
            <a:srgbClr val="1B2333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1460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32 / 51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 du front-end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163951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5087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pages/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291840" y="15087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composant par écran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" y="250819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3774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components/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3291840" y="23774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Composants réutilisables par domaine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24612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3376879"/>
            <a:ext cx="332842" cy="33284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2461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common/api/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3291840" y="32461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Axios, cookie envoyé automatiquement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411480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FF4154"/>
          </a:solidFill>
          <a:ln w="12700">
            <a:solidFill>
              <a:srgbClr val="FF4154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" y="424555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41148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hooks/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3291840" y="4114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 Query : données serveur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498348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" y="5114239"/>
            <a:ext cx="332842" cy="33284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25880" y="49834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common/store/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3291840" y="49834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 : session, toasts, UI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6720840" y="1508760"/>
            <a:ext cx="4937760" cy="4206240"/>
          </a:xfrm>
          <a:prstGeom prst="roundRect">
            <a:avLst>
              <a:gd name="adj" fmla="val 2609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995160" y="1737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TanStack Query + Zustand ?</a:t>
            </a:r>
            <a:endParaRPr lang="en-US" sz="1700" dirty="0"/>
          </a:p>
        </p:txBody>
      </p:sp>
      <p:sp>
        <p:nvSpPr>
          <p:cNvPr id="26" name="Text 19"/>
          <p:cNvSpPr txBox="1"/>
          <p:nvPr/>
        </p:nvSpPr>
        <p:spPr>
          <a:xfrm>
            <a:off x="6995160" y="2331720"/>
            <a:ext cx="4434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Cache, chargement et erreurs gérés automatiquement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Séparation claire : données serveur ≠ état de l’interface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Beaucoup moins de code répétitif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léger et plus simple que Redux pour ce besoin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33 / 51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protégées et formulaires validés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0B112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91056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components/auth/ProtectedRoute.tsx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01952"/>
            <a:ext cx="4983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ProtectedRoute()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status } = useAuth();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location = useLocation();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(status === "pending")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&lt;PageLoader label="Vérification de la session…" /&gt;;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(status === "unauthenticated")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&lt;Navigate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to="/login"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replace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state={{ from: location.pathname + location.search }}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&lt;Outlet /&gt;;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0B112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591056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pages/auth/RegisterPage.tsx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1901952"/>
            <a:ext cx="4983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schema = z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.object({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username: z.string().min(3, "3 caractères minimum.")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.max(50, "50 caractères maximum."),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email: z.string().min(1, "L'e-mail est requis.")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.email("E-mail invalide."),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password: z.string().min(6, "6 caractères minimum."),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confirmPassword: z.string().min(1, "Confirmez le mot de passe."),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terms: z.boolean()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.refine((v) =&gt; v === true, "Vous devez accepter les conditions."),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.refine((data) =&gt; data.password === data.confirmPassword,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path: ["confirmPassword"],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message: "Les mots de passe ne correspondent pas.",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85216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Côté client, ces contrôles servent le confort de l’utilisateur : la vraie sécurité reste dans l’API.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34 / 51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L’application</a:t>
            </a:r>
            <a:endParaRPr lang="en-US" sz="3200" dirty="0"/>
          </a:p>
        </p:txBody>
      </p:sp>
      <p:pic>
        <p:nvPicPr>
          <p:cNvPr id="4" name="Image 0" descr="/tmp/claude-1000/-home-abduljaber-formation-cda-projet-final-promptVerse/5eba1b07-3930-4f30-903f-f5f37cb75edb/scratchpad/amine/assets/cap_catalogu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265" y="1417320"/>
            <a:ext cx="4069430" cy="2103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5204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filtrable</a:t>
            </a:r>
            <a:endParaRPr lang="en-US" sz="1100" dirty="0"/>
          </a:p>
        </p:txBody>
      </p:sp>
      <p:pic>
        <p:nvPicPr>
          <p:cNvPr id="6" name="Image 1" descr="/tmp/claude-1000/-home-abduljaber-formation-cda-projet-final-promptVerse/5eba1b07-3930-4f30-903f-f5f37cb75edb/scratchpad/amine/assets/cap_fiche_gratuit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825" y="1417320"/>
            <a:ext cx="4069430" cy="21031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172200" y="35204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Fiche d’un prompt</a:t>
            </a:r>
            <a:endParaRPr lang="en-US" sz="1100" dirty="0"/>
          </a:p>
        </p:txBody>
      </p:sp>
      <p:pic>
        <p:nvPicPr>
          <p:cNvPr id="8" name="Image 2" descr="/tmp/claude-1000/-home-abduljaber-formation-cda-projet-final-promptVerse/5eba1b07-3930-4f30-903f-f5f37cb75edb/scratchpad/amine/assets/cap_dashboard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265" y="3904488"/>
            <a:ext cx="4069430" cy="21031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600760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de bord vendeur</a:t>
            </a:r>
            <a:endParaRPr lang="en-US" sz="1100" dirty="0"/>
          </a:p>
        </p:txBody>
      </p:sp>
      <p:pic>
        <p:nvPicPr>
          <p:cNvPr id="10" name="Image 3" descr="/tmp/claude-1000/-home-abduljaber-formation-cda-projet-final-promptVerse/5eba1b07-3930-4f30-903f-f5f37cb75edb/scratchpad/amine/assets/cap_admin_users.jpe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825" y="3904488"/>
            <a:ext cx="4069430" cy="21031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172200" y="600760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 des rôles</a:t>
            </a:r>
            <a:endParaRPr lang="en-US" sz="1100" dirty="0"/>
          </a:p>
        </p:txBody>
      </p:sp>
      <p:sp>
        <p:nvSpPr>
          <p:cNvPr id="12" name="Text 6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13" name="Text 7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35 / 51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202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54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Pensée dès la conception, pas ajoutée à la fin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503920" y="1737360"/>
            <a:ext cx="2926080" cy="2926080"/>
          </a:xfrm>
          <a:prstGeom prst="ellipse">
            <a:avLst/>
          </a:prstGeom>
          <a:solidFill>
            <a:srgbClr val="1B2333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1460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36 / 51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Mesures de sécurité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192389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signé, cookie httpOnly + secure + sameSite, bcrypt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15087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7830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818" y="192389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d’accès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6060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global + rôles USER / ADMIN / SUPER_ADMIN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46720" y="15087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21040" y="17830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858" y="1923898"/>
            <a:ext cx="358445" cy="35844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4400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6060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DTO avec whitelist, champs inconnus refusés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41148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778" y="4255618"/>
            <a:ext cx="358445" cy="35844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45920" y="4114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de débit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4937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Throttler API + limites Nginx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297680" y="38404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2000" y="41148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2818" y="4255618"/>
            <a:ext cx="358445" cy="35844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94960" y="4114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SQL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4937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Requêtes paramétrées par TypeORM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8046720" y="38404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21040" y="41148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4255618"/>
            <a:ext cx="358445" cy="35844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44000" y="4114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et en-têtes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321040" y="4937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HTTPS, HSTS, Helmet, CORS restreint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37 / 51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RGPD et accessibilité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526280"/>
          </a:xfrm>
          <a:prstGeom prst="roundRect">
            <a:avLst>
              <a:gd name="adj" fmla="val 2424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9339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7830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personnelles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9748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 minimale : email, pseudo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 de passe haché, jamais en clair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donnée bancaire : tout passe par Stripe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Acceptation des conditions à l’inscription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Suppression du compte depuis les paramètres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17920" y="1508760"/>
            <a:ext cx="5440680" cy="4526280"/>
          </a:xfrm>
          <a:prstGeom prst="roundRect">
            <a:avLst>
              <a:gd name="adj" fmla="val 2424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17830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116" y="193395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17830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Accessibilité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69748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champ a un libellé (label / htmlFor)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Textes alternatifs sur les images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d’erreur en texte sous le champ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Contrastes vérifiés (AA / AAA)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RGAA complet : à venir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38 / 51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202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54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critères d’acceptation aux tests automatisés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503920" y="1737360"/>
            <a:ext cx="2926080" cy="2926080"/>
          </a:xfrm>
          <a:prstGeom prst="ellipse">
            <a:avLst/>
          </a:prstGeom>
          <a:solidFill>
            <a:srgbClr val="1B2333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1460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39 / 51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unitaires et jeu d’essai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18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unitaires Jest réussis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1148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257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scénarios du jeu d’essai conformes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97680" y="1508760"/>
            <a:ext cx="7360920" cy="3566160"/>
          </a:xfrm>
          <a:prstGeom prst="roundRect">
            <a:avLst>
              <a:gd name="adj" fmla="val 2564"/>
            </a:avLst>
          </a:prstGeom>
          <a:solidFill>
            <a:srgbClr val="0B112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1636776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purchases.service.spec.ts — le test d’idempotence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1947672"/>
            <a:ext cx="6903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it('is idempotent: a second completed event for the same session is a no-op', async () =&gt;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session = { id: 'cs_test_123' } as Stripe.Checkout.Session;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stripeService.constructWebhookEvent.mockReturnValue({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'checkout.session.completed',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data: { object: session },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findOnePurchase.mockResolvedValue({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'purchase-1', promptId: 'prompt-1', sellerId: 'seller-1',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amount: '10.00', status: PurchaseStatus.COMPLETED,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service.handleWebhookEvent(Buffer.from('{}'), 'sig');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expect(savePurchase).not.toHaveBeenCalled();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expect(usersService.save).not.toHaveBeenCalled();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expect(promptsService.incrementSalesCount).not.toHaveBeenCalled();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5257800"/>
            <a:ext cx="7360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Unitaires 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des prompts, des achats et de l’administration, avec des mocks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 d’essai 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vraies requêtes HTTP sur l’API (prompt gratuit, propre prompt, webhook falsifié…)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Écart analysé 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 Stripe de test invalide en local, pas un défaut du code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40 / 51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202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54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et déploiement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git push à la production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503920" y="1737360"/>
            <a:ext cx="2926080" cy="2926080"/>
          </a:xfrm>
          <a:prstGeom prst="ellipse">
            <a:avLst/>
          </a:prstGeom>
          <a:solidFill>
            <a:srgbClr val="1B2333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1460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41 / 51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Conteneurisation avec Docker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880360" cy="4572000"/>
          </a:xfrm>
          <a:prstGeom prst="roundRect">
            <a:avLst>
              <a:gd name="adj" fmla="val 3810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8580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0391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docker-compose.dev.yml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51760"/>
            <a:ext cx="2514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(rechargement à chaud)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(Vite)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(MySQL 8.4)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mailpit (emails de test)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11880" y="1508760"/>
            <a:ext cx="2880360" cy="4572000"/>
          </a:xfrm>
          <a:prstGeom prst="roundRect">
            <a:avLst>
              <a:gd name="adj" fmla="val 3810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40480" y="173736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1181" y="185806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2628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0391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docker-compose.prod.yml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3840480" y="2651760"/>
            <a:ext cx="2514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(HTTPS, reverse proxy)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(image Docker Hub)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(image Docker Hub)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(volume persistant)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766560" y="1508760"/>
            <a:ext cx="4892040" cy="4572000"/>
          </a:xfrm>
          <a:prstGeom prst="roundRect">
            <a:avLst>
              <a:gd name="adj" fmla="val 2000"/>
            </a:avLst>
          </a:prstGeom>
          <a:solidFill>
            <a:srgbClr val="0B112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995160" y="163677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apps/api/Dockerfile (extrait)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6995160" y="1947672"/>
            <a:ext cx="44348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node:22-alpine AS build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package.json package-lock.json ./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npm ci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npm run build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node:22-alpine AS deps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npm ci --omit=dev &amp;&amp; npm cache clean --force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node:22-alpine AS production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NODE_ENV=production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--from=deps  /app/node_modules ./node_modules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--from=build /app/dist ./dist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node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ENTRYPOINT ["docker-entrypoint.sh"]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["node", "dist/main"]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42 / 51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CI/CD GitHub Actions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</p:sp>
      <p:pic>
        <p:nvPicPr>
          <p:cNvPr id="5" name="Image 0" descr="/tmp/claude-1000/-home-abduljaber-formation-cda-projet-final-promptVerse/5eba1b07-3930-4f30-903f-f5f37cb75edb/scratchpad/amine/assets/cic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9746" y="1645920"/>
            <a:ext cx="9667749" cy="3200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257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back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623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 · Jest · couverture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364992" y="5257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front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364992" y="5623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 · build Vite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181344" y="5257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181344" y="5623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+ push Docker Hub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997696" y="5257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997696" y="5623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scp + ssh sur le VPS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43 / 51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production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8" y="164957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904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 Linux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8379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de production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4231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009639"/>
          </a:solidFill>
          <a:ln w="12700">
            <a:solidFill>
              <a:srgbClr val="00963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58" y="2563978"/>
            <a:ext cx="358445" cy="35844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4048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7523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Seul service exposé (80 / 443)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3375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8" y="3478378"/>
            <a:ext cx="358445" cy="35844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319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417320" y="36667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 Let’s Encrypt via Certbot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42519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8" y="4392778"/>
            <a:ext cx="358445" cy="35844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17320" y="42336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1417320" y="45811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Volumes MySQL et uploads persistants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51663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58" y="5307178"/>
            <a:ext cx="358445" cy="35844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17320" y="51480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Retour arrière</a:t>
            </a:r>
            <a:endParaRPr lang="en-US" sz="1700" dirty="0"/>
          </a:p>
        </p:txBody>
      </p:sp>
      <p:sp>
        <p:nvSpPr>
          <p:cNvPr id="23" name="Text 16"/>
          <p:cNvSpPr txBox="1"/>
          <p:nvPr/>
        </p:nvSpPr>
        <p:spPr>
          <a:xfrm>
            <a:off x="1417320" y="54955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taguées par commit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5852160" y="1508760"/>
            <a:ext cx="5806440" cy="4526280"/>
          </a:xfrm>
          <a:prstGeom prst="roundRect">
            <a:avLst>
              <a:gd name="adj" fmla="val 2424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pic>
        <p:nvPicPr>
          <p:cNvPr id="25" name="Image 5" descr="/tmp/claude-1000/-home-abduljaber-formation-cda-projet-final-promptVerse/5eba1b07-3930-4f30-903f-f5f37cb75edb/scratchpad/amine/assets/cap_accueil.jpe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2068822"/>
            <a:ext cx="5440680" cy="281179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852160" y="5349240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https://promptverse.biz</a:t>
            </a:r>
            <a:endParaRPr lang="en-US" sz="2000" dirty="0"/>
          </a:p>
        </p:txBody>
      </p:sp>
      <p:sp>
        <p:nvSpPr>
          <p:cNvPr id="27" name="Text 19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44 / 51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Veille sur les vulnérabilités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: OWASP Top 10 · CERT-FR / ANSSI · GitHub Advisory Database · npm audit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63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vulnérabilité côté client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2062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257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alertes côté API (npm audit)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1920240"/>
            <a:ext cx="7269480" cy="4206240"/>
          </a:xfrm>
          <a:prstGeom prst="roundRect">
            <a:avLst>
              <a:gd name="adj" fmla="val 2609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1945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4258" y="2335378"/>
            <a:ext cx="358445" cy="35844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486400" y="21945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Faille trouvée dans notre code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30175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L’envoi d’images accepte tout type « image/* », y compris le SVG, qui peut contenir du JavaScript (risque de XSS stocké). Le type MIME est en plus déclaré par le client.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663440" y="42519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Correctif prévu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466344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 blanche : JPEG, PNG, WebP uniquement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 la signature binaire du fichier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à jour des dépendances + npm audit dans la CI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45 / 51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Évolutions du projet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9796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55448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 et notes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172200" y="155448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46520" y="182880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6" y="197967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60920" y="155448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 de favoris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48640" y="301752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22960" y="329184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344271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737360" y="301752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plein texte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6172200" y="301752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46520" y="329184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396" y="3442716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60920" y="301752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Reversement aux vendeurs (Stripe Connect)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548640" y="448056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22960" y="47548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" y="4905756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737360" y="448056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End-to-End et meilleure couverture</a:t>
            </a:r>
            <a:endParaRPr lang="en-US" sz="1700" dirty="0"/>
          </a:p>
        </p:txBody>
      </p:sp>
      <p:sp>
        <p:nvSpPr>
          <p:cNvPr id="24" name="Shape 17"/>
          <p:cNvSpPr/>
          <p:nvPr/>
        </p:nvSpPr>
        <p:spPr>
          <a:xfrm>
            <a:off x="6172200" y="448056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446520" y="47548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7396" y="4905756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360920" y="448056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Durcissement : upload, mots de passe, dépendances</a:t>
            </a:r>
            <a:endParaRPr lang="en-US" sz="1700" dirty="0"/>
          </a:p>
        </p:txBody>
      </p:sp>
      <p:sp>
        <p:nvSpPr>
          <p:cNvPr id="28" name="Text 2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46 / 51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202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54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Déroulement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parcours complet, de l’inscription à l’achat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503920" y="1737360"/>
            <a:ext cx="2926080" cy="2926080"/>
          </a:xfrm>
          <a:prstGeom prst="ellipse">
            <a:avLst/>
          </a:prstGeom>
          <a:solidFill>
            <a:srgbClr val="1B2333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1460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47 / 51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DÉROULEMENT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Déroulement d’un parcours complet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621792" cy="621792"/>
          </a:xfrm>
          <a:prstGeom prst="roundRect">
            <a:avLst>
              <a:gd name="adj" fmla="val 20588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754" y="1874154"/>
            <a:ext cx="348204" cy="3482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73736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Inscription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L’utilisateur crée son compte. Le mot de passe est haché (bcrypt), un jeton de vérification valable 15 minutes est généré.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46304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737360"/>
            <a:ext cx="621792" cy="621792"/>
          </a:xfrm>
          <a:prstGeom prst="roundRect">
            <a:avLst>
              <a:gd name="adj" fmla="val 2058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794" y="1874154"/>
            <a:ext cx="348204" cy="3482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03520" y="173736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Email SMTP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5146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MailService envoie le lien de vérification. En développement, Mailpit capture l’email ; en production, un vrai serveur SMTP le distribue.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46304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21040" y="1737360"/>
            <a:ext cx="621792" cy="621792"/>
          </a:xfrm>
          <a:prstGeom prst="roundRect">
            <a:avLst>
              <a:gd name="adj" fmla="val 20588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834" y="1874154"/>
            <a:ext cx="348204" cy="34820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52560" y="173736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Connexion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5146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fois l’email vérifié, la connexion pose le cookie httpOnly contenant le JWT.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4114800"/>
            <a:ext cx="621792" cy="621792"/>
          </a:xfrm>
          <a:prstGeom prst="roundRect">
            <a:avLst>
              <a:gd name="adj" fmla="val 20588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754" y="4251594"/>
            <a:ext cx="348204" cy="34820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11480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Publication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48920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vendeur publie un prompt : validation par DTO, images enregistrées par Multer, mise en ligne immédiate.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297680" y="384048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2000" y="4114800"/>
            <a:ext cx="621792" cy="621792"/>
          </a:xfrm>
          <a:prstGeom prst="roundRect">
            <a:avLst>
              <a:gd name="adj" fmla="val 2058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8794" y="4251594"/>
            <a:ext cx="348204" cy="34820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03520" y="411480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Achat Stripe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48920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règles métier sont vérifiées, un achat PENDING est créé, puis l’acheteur paie sur la page Stripe Checkout.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046720" y="384048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21040" y="4114800"/>
            <a:ext cx="621792" cy="621792"/>
          </a:xfrm>
          <a:prstGeom prst="roundRect">
            <a:avLst>
              <a:gd name="adj" fmla="val 20588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7834" y="4251594"/>
            <a:ext cx="348204" cy="34820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52560" y="411480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Webhook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321040" y="48920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confirme le paiement. Signature vérifiée, traitement idempotent : achat COMPLETED, vente comptée, vendeur crédité, contenu débloqué.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26364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étape s’appuie sur ce qui précède : la spécification OpenSpec, l’email SMTP et le webhook Stripe forment un seul parcours.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48 / 51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231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à la démo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Inscription et vérification de l’email (Mailpit)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Publication d’un prompt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Achat d’un prompt avec Stripe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 d’administration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498080" y="2286000"/>
            <a:ext cx="3931920" cy="1097280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0" y="22860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promptverse.biz</a:t>
            </a:r>
            <a:endParaRPr lang="en-US" sz="2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0" y="3749040"/>
            <a:ext cx="1280160" cy="12801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49 / 51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9339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7830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le cycle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besoins à la production, en passant par UML, Merise, le code, les tests et le déploiement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50876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17830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6" y="193395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17830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sécurité dès la conception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26060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 httpOnly, routes privées par défaut, contenu payant masqué, webhook idempotent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0690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421995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40690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travail en équipe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48920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partagé, un dépôt commun, des décisions prises à trois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172200" y="379476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1B2333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46520" y="40690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396" y="421995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60920" y="40690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L’esprit DevOps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446520" y="48920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projet est terminé quand il tourne en production, de façon reproductible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PromptVerse · Certification CDA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0088575" y="6419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50 / 51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pour votre attention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54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à vos questions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Amine LAMALLEM · PromptVerse · promptverse.biz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48" y="39319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PromptVerse — Présentation CDA (Amine)</dc:title>
  <dc:subject>PptxGenJS Presentation</dc:subject>
  <dc:creator>Amine LAMALLEM</dc:creator>
  <cp:lastModifiedBy>Amine LAMALLEM</cp:lastModifiedBy>
  <cp:revision>1</cp:revision>
  <dcterms:created xsi:type="dcterms:W3CDTF">2026-09-25T14:26:53Z</dcterms:created>
  <dcterms:modified xsi:type="dcterms:W3CDTF">2026-09-25T14:26:53Z</dcterms:modified>
</cp:coreProperties>
</file>