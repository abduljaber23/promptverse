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12192000"/>
  <p:embeddedFontLst>
    <p:embeddedFont>
      <p:font typeface="Robot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Roboto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Roboto-italic.fntdata"/><Relationship Id="rId10" Type="http://schemas.openxmlformats.org/officeDocument/2006/relationships/slide" Target="slides/slide6.xml"/><Relationship Id="rId54" Type="http://schemas.openxmlformats.org/officeDocument/2006/relationships/font" Target="fonts/Robot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16d0da94017cc4f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h416d0da94017cc4f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h416d0da94017cc4f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2c3ef982247739b3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h2c3ef982247739b3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h2c3ef982247739b3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2c3ef982247739b3_6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h2c3ef982247739b3_6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h2c3ef982247739b3_6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2c3ef982247739b3_6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2c3ef982247739b3_6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h2c3ef982247739b3_6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2c3ef982247739b3_6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h2c3ef982247739b3_6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h2c3ef982247739b3_6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2c3ef982247739b3_6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h2c3ef982247739b3_6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h2c3ef982247739b3_6_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2c3ef982247739b3_6_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h2c3ef982247739b3_6_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h2c3ef982247739b3_6_5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2c3ef982247739b3_6_6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h2c3ef982247739b3_6_6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h2c3ef982247739b3_6_6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2c3ef982247739b3_6_6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h2c3ef982247739b3_6_6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h2c3ef982247739b3_6_6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8ba127b8d7_0_60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8ba127b8d7_0_60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8ba127b8d7_0_60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38ba127b8d7_0_6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8ba127b8d7_0_60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8ba127b8d7_0_6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2c3ef982247739b3_6_6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h2c3ef982247739b3_6_6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h2c3ef982247739b3_6_6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h5bbc81c14a3fe526_165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h5bbc81c14a3fe526_165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h5bbc81c14a3fe526_165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h5bbc81c14a3fe526_165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h5bbc81c14a3fe526_165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h5bbc81c14a3fe526_165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h5bbc81c14a3fe526_165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h5bbc81c14a3fe526_165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h5bbc81c14a3fe526_165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h416d0da94017cc4f_0_1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h416d0da94017cc4f_0_1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2" name="Google Shape;872;h416d0da94017cc4f_0_15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8" name="Google Shape;1068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8ba127b8d7_147_0)">
  <p:cSld name="Generated (g38ba127b8d7_147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21" Type="http://schemas.openxmlformats.org/officeDocument/2006/relationships/image" Target="../media/image71.png"/><Relationship Id="rId13" Type="http://schemas.openxmlformats.org/officeDocument/2006/relationships/image" Target="../media/image1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5" Type="http://schemas.openxmlformats.org/officeDocument/2006/relationships/image" Target="../media/image23.png"/><Relationship Id="rId14" Type="http://schemas.openxmlformats.org/officeDocument/2006/relationships/image" Target="../media/image16.png"/><Relationship Id="rId17" Type="http://schemas.openxmlformats.org/officeDocument/2006/relationships/image" Target="../media/image45.png"/><Relationship Id="rId16" Type="http://schemas.openxmlformats.org/officeDocument/2006/relationships/image" Target="../media/image26.png"/><Relationship Id="rId5" Type="http://schemas.openxmlformats.org/officeDocument/2006/relationships/image" Target="../media/image14.png"/><Relationship Id="rId19" Type="http://schemas.openxmlformats.org/officeDocument/2006/relationships/image" Target="../media/image66.png"/><Relationship Id="rId6" Type="http://schemas.openxmlformats.org/officeDocument/2006/relationships/image" Target="../media/image47.png"/><Relationship Id="rId18" Type="http://schemas.openxmlformats.org/officeDocument/2006/relationships/image" Target="../media/image62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jpg"/><Relationship Id="rId4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0.png"/><Relationship Id="rId4" Type="http://schemas.openxmlformats.org/officeDocument/2006/relationships/image" Target="../media/image72.png"/><Relationship Id="rId5" Type="http://schemas.openxmlformats.org/officeDocument/2006/relationships/image" Target="../media/image69.png"/><Relationship Id="rId6" Type="http://schemas.openxmlformats.org/officeDocument/2006/relationships/image" Target="../media/image65.png"/><Relationship Id="rId7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72.png"/><Relationship Id="rId6" Type="http://schemas.openxmlformats.org/officeDocument/2006/relationships/image" Target="../media/image37.png"/><Relationship Id="rId7" Type="http://schemas.openxmlformats.org/officeDocument/2006/relationships/image" Target="../media/image65.png"/><Relationship Id="rId8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../media/image65.png"/><Relationship Id="rId7" Type="http://schemas.openxmlformats.org/officeDocument/2006/relationships/image" Target="../media/image48.png"/><Relationship Id="rId8" Type="http://schemas.openxmlformats.org/officeDocument/2006/relationships/image" Target="../media/image5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promptverse.biz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143750" y="-1905000"/>
            <a:ext cx="6667500" cy="6667500"/>
          </a:xfrm>
          <a:prstGeom prst="ellipse">
            <a:avLst/>
          </a:prstGeom>
          <a:solidFill>
            <a:srgbClr val="0077FF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952500" y="2857500"/>
            <a:ext cx="5715000" cy="5715000"/>
          </a:xfrm>
          <a:prstGeom prst="ellipse">
            <a:avLst/>
          </a:prstGeom>
          <a:solidFill>
            <a:srgbClr val="7C5CFF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762000" y="7620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CERTIFICATION CONCEPTEUR DÉVELOPPEUR D’APPLICATIONS</a:t>
            </a:r>
            <a:endParaRPr b="1" i="0" sz="1100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762000" y="1190625"/>
            <a:ext cx="4953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PromptVerse</a:t>
            </a:r>
            <a:endParaRPr b="1" sz="59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762000" y="2286000"/>
            <a:ext cx="476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La marketplace de prompts pour les IA génératives</a:t>
            </a:r>
            <a:endParaRPr b="0" sz="20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805350" y="4572000"/>
            <a:ext cx="4572000" cy="1143000"/>
          </a:xfrm>
          <a:prstGeom prst="roundRect">
            <a:avLst>
              <a:gd fmla="val 13333" name="adj"/>
            </a:avLst>
          </a:prstGeom>
          <a:solidFill>
            <a:srgbClr val="141921"/>
          </a:solidFill>
          <a:ln cap="flat" cmpd="sng" w="9525">
            <a:solidFill>
              <a:srgbClr val="252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6072050" y="4781550"/>
            <a:ext cx="4038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LAMALLEM AMINE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Simplon · Formation CDA · 2026</a:t>
            </a:r>
            <a:endParaRPr b="1" sz="13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62000" y="3286125"/>
            <a:ext cx="2095500" cy="438300"/>
          </a:xfrm>
          <a:prstGeom prst="roundRect">
            <a:avLst>
              <a:gd fmla="val 49999" name="adj"/>
            </a:avLst>
          </a:prstGeom>
          <a:solidFill>
            <a:srgbClr val="141B24"/>
          </a:solidFill>
          <a:ln cap="flat" cmpd="sng" w="14300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762000" y="3286125"/>
            <a:ext cx="20955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promptverse.biz</a:t>
            </a:r>
            <a:endParaRPr b="1" i="0" sz="1300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QUI SUIS-JE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457145" y="1828800"/>
            <a:ext cx="475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AMINE LAMALLEM</a:t>
            </a:r>
            <a:endParaRPr b="1" sz="2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615870" y="2316425"/>
            <a:ext cx="475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Apprenant Concepteur Développeur d’Applications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974080" y="1600200"/>
            <a:ext cx="5616000" cy="1950600"/>
          </a:xfrm>
          <a:prstGeom prst="roundRect">
            <a:avLst>
              <a:gd fmla="val 7812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615870" y="2805075"/>
            <a:ext cx="475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Simplon · 2025 – 2026</a:t>
            </a:r>
            <a:endParaRPr b="1" sz="1200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240780" y="2270760"/>
            <a:ext cx="609600" cy="609600"/>
          </a:xfrm>
          <a:prstGeom prst="roundRect">
            <a:avLst>
              <a:gd fmla="val 1875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38506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7040880" y="1828800"/>
            <a:ext cx="428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Titre visé</a:t>
            </a:r>
            <a:endParaRPr b="1" sz="16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974080" y="3855720"/>
            <a:ext cx="5616000" cy="1950600"/>
          </a:xfrm>
          <a:prstGeom prst="roundRect">
            <a:avLst>
              <a:gd fmla="val 7812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7040880" y="2171700"/>
            <a:ext cx="4286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Concepteur Développeur d’Applications</a:t>
            </a:r>
            <a:endParaRPr b="1" sz="15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Certification professionnelle — Niveau 6 (Bac +4)</a:t>
            </a:r>
            <a:endParaRPr b="0" sz="12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240780" y="4526280"/>
            <a:ext cx="609600" cy="609600"/>
          </a:xfrm>
          <a:prstGeom prst="roundRect">
            <a:avLst>
              <a:gd fmla="val 1875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46405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7040880" y="4084320"/>
            <a:ext cx="428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Projet chef-d’œuvre</a:t>
            </a:r>
            <a:endParaRPr b="1" sz="16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7040880" y="4427220"/>
            <a:ext cx="4286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PromptVerse</a:t>
            </a:r>
            <a:endParaRPr b="1" sz="15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Marketplace de prompts — Réalisé en équipe de trois</a:t>
            </a:r>
            <a:endParaRPr b="0" sz="12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LE PROJET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L’équipe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6"/>
          <p:cNvGrpSpPr/>
          <p:nvPr/>
        </p:nvGrpSpPr>
        <p:grpSpPr>
          <a:xfrm>
            <a:off x="666750" y="1714500"/>
            <a:ext cx="3429000" cy="3619500"/>
            <a:chOff x="0" y="0"/>
            <a:chExt cx="3429000" cy="3619500"/>
          </a:xfrm>
        </p:grpSpPr>
        <p:sp>
          <p:nvSpPr>
            <p:cNvPr id="58" name="Google Shape;58;p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50000" name="adj"/>
              </a:avLst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7300" y="495300"/>
              <a:ext cx="914400" cy="914400"/>
            </a:xfrm>
            <a:prstGeom prst="ellipse">
              <a:avLst/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 txBox="1"/>
            <p:nvPr/>
          </p:nvSpPr>
          <p:spPr>
            <a:xfrm>
              <a:off x="0" y="495300"/>
              <a:ext cx="3429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AA</a:t>
              </a:r>
              <a:endPara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6"/>
            <p:cNvSpPr txBox="1"/>
            <p:nvPr/>
          </p:nvSpPr>
          <p:spPr>
            <a:xfrm>
              <a:off x="190500" y="1666875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Abduljaber</a:t>
              </a:r>
              <a:endParaRPr b="1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381000" y="2333625"/>
              <a:ext cx="2667000" cy="400200"/>
            </a:xfrm>
            <a:prstGeom prst="roundRect">
              <a:avLst>
                <a:gd fmla="val 50000" name="adj"/>
              </a:avLst>
            </a:prstGeom>
            <a:solidFill>
              <a:srgbClr val="231B24"/>
            </a:solidFill>
            <a:ln cap="flat" cmpd="sng" w="9525">
              <a:solidFill>
                <a:srgbClr val="FF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 txBox="1"/>
            <p:nvPr/>
          </p:nvSpPr>
          <p:spPr>
            <a:xfrm>
              <a:off x="381000" y="2333625"/>
              <a:ext cx="266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3366"/>
                  </a:solidFill>
                  <a:latin typeface="Arial"/>
                  <a:ea typeface="Arial"/>
                  <a:cs typeface="Arial"/>
                  <a:sym typeface="Arial"/>
                </a:rPr>
                <a:t>Conception · Développement</a:t>
              </a:r>
              <a:endParaRPr b="1" sz="1100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4381500" y="1714500"/>
            <a:ext cx="3429000" cy="3619500"/>
            <a:chOff x="0" y="0"/>
            <a:chExt cx="3429000" cy="3619500"/>
          </a:xfrm>
        </p:grpSpPr>
        <p:sp>
          <p:nvSpPr>
            <p:cNvPr id="66" name="Google Shape;66;p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fmla="val 4444" name="adj"/>
              </a:avLst>
            </a:prstGeom>
            <a:solidFill>
              <a:srgbClr val="19192B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49999" name="adj"/>
              </a:avLst>
            </a:prstGeom>
            <a:solidFill>
              <a:srgbClr val="7C5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1257300" y="495300"/>
              <a:ext cx="914400" cy="914400"/>
            </a:xfrm>
            <a:prstGeom prst="ellipse">
              <a:avLst/>
            </a:prstGeom>
            <a:solidFill>
              <a:srgbClr val="7C5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 txBox="1"/>
            <p:nvPr/>
          </p:nvSpPr>
          <p:spPr>
            <a:xfrm>
              <a:off x="0" y="495300"/>
              <a:ext cx="3429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</a:t>
              </a:r>
              <a:endPara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"/>
            <p:cNvSpPr txBox="1"/>
            <p:nvPr/>
          </p:nvSpPr>
          <p:spPr>
            <a:xfrm>
              <a:off x="190500" y="1666875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Amine</a:t>
              </a:r>
              <a:endParaRPr b="1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81000" y="2333625"/>
              <a:ext cx="2667000" cy="400200"/>
            </a:xfrm>
            <a:prstGeom prst="roundRect">
              <a:avLst>
                <a:gd fmla="val 49999" name="adj"/>
              </a:avLst>
            </a:prstGeom>
            <a:solidFill>
              <a:srgbClr val="1C1A2E"/>
            </a:solidFill>
            <a:ln cap="flat" cmpd="sng" w="9525">
              <a:solidFill>
                <a:srgbClr val="7C5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 txBox="1"/>
            <p:nvPr/>
          </p:nvSpPr>
          <p:spPr>
            <a:xfrm>
              <a:off x="381000" y="2333625"/>
              <a:ext cx="266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strike="noStrike">
                  <a:solidFill>
                    <a:srgbClr val="7C5CFF"/>
                  </a:solidFill>
                  <a:latin typeface="Arial"/>
                  <a:ea typeface="Arial"/>
                  <a:cs typeface="Arial"/>
                  <a:sym typeface="Arial"/>
                </a:rPr>
                <a:t>Conception · Développement</a:t>
              </a:r>
              <a:endParaRPr b="1" i="0" sz="1100" u="none" strike="noStrike">
                <a:solidFill>
                  <a:srgbClr val="7C5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6"/>
          <p:cNvGrpSpPr/>
          <p:nvPr/>
        </p:nvGrpSpPr>
        <p:grpSpPr>
          <a:xfrm>
            <a:off x="8096250" y="1714500"/>
            <a:ext cx="3429000" cy="3619500"/>
            <a:chOff x="0" y="0"/>
            <a:chExt cx="3429000" cy="3619500"/>
          </a:xfrm>
        </p:grpSpPr>
        <p:sp>
          <p:nvSpPr>
            <p:cNvPr id="74" name="Google Shape;74;p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fmla="val 4444" name="adj"/>
              </a:avLst>
            </a:prstGeom>
            <a:solidFill>
              <a:srgbClr val="14212B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49999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1257300" y="495300"/>
              <a:ext cx="914400" cy="914400"/>
            </a:xfrm>
            <a:prstGeom prst="ellipse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 txBox="1"/>
            <p:nvPr/>
          </p:nvSpPr>
          <p:spPr>
            <a:xfrm>
              <a:off x="0" y="495300"/>
              <a:ext cx="3429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</a:t>
              </a:r>
              <a:endPara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"/>
            <p:cNvSpPr txBox="1"/>
            <p:nvPr/>
          </p:nvSpPr>
          <p:spPr>
            <a:xfrm>
              <a:off x="190500" y="1666875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Anis</a:t>
              </a:r>
              <a:endParaRPr b="1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381000" y="2333625"/>
              <a:ext cx="2667000" cy="400200"/>
            </a:xfrm>
            <a:prstGeom prst="roundRect">
              <a:avLst>
                <a:gd fmla="val 49999" name="adj"/>
              </a:avLst>
            </a:prstGeom>
            <a:solidFill>
              <a:srgbClr val="11222C"/>
            </a:solidFill>
            <a:ln cap="flat" cmpd="sng" w="952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 txBox="1"/>
            <p:nvPr/>
          </p:nvSpPr>
          <p:spPr>
            <a:xfrm>
              <a:off x="381000" y="2333625"/>
              <a:ext cx="266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strike="noStrike">
                  <a:solidFill>
                    <a:srgbClr val="00D2FF"/>
                  </a:solidFill>
                  <a:latin typeface="Arial"/>
                  <a:ea typeface="Arial"/>
                  <a:cs typeface="Arial"/>
                  <a:sym typeface="Arial"/>
                </a:rPr>
                <a:t>Conception · Développement</a:t>
              </a:r>
              <a:endParaRPr b="1" i="0" sz="1100" u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LE PROJET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548840" y="685803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EEF1F4"/>
                </a:solidFill>
              </a:rPr>
              <a:t>PromptVerse, c’est quoi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EEF1F4"/>
              </a:solidFill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548640" y="13716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Une marketplace où chacun peut vendre ses prompts optimisés pour les IA génératives, et acheter ceux des autres pour gagner du temps.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53440" y="2524125"/>
            <a:ext cx="609600" cy="609600"/>
          </a:xfrm>
          <a:prstGeom prst="roundRect">
            <a:avLst>
              <a:gd fmla="val 21875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853440" y="3381375"/>
            <a:ext cx="2857500" cy="157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Prompts filtrables par catégorie et par outil IA (ChatGPT, Midjourney, Claude…)</a:t>
            </a:r>
            <a:endParaRPr b="0" sz="135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663440" y="2524125"/>
            <a:ext cx="609600" cy="609600"/>
          </a:xfrm>
          <a:prstGeom prst="roundRect">
            <a:avLst>
              <a:gd fmla="val 21875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1634490" y="2524125"/>
            <a:ext cx="2152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1" sz="2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4663440" y="3381375"/>
            <a:ext cx="2857500" cy="157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Tout utilisateur publie ses prompts avec prix, aperçu et images</a:t>
            </a:r>
            <a:endParaRPr b="0" sz="135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473440" y="2524125"/>
            <a:ext cx="609600" cy="609600"/>
          </a:xfrm>
          <a:prstGeom prst="roundRect">
            <a:avLst>
              <a:gd fmla="val 21875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3453" y="2624138"/>
            <a:ext cx="4095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9254490" y="2524125"/>
            <a:ext cx="2152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Achat</a:t>
            </a:r>
            <a:endParaRPr b="1" sz="2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8473440" y="3381375"/>
            <a:ext cx="2857500" cy="157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Paiement Stripe Checkout ; les prompts à 0 € sont gratuits</a:t>
            </a:r>
            <a:endParaRPr b="0" sz="135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453" y="2624138"/>
            <a:ext cx="409500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3453" y="2624138"/>
            <a:ext cx="4095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/>
          <p:nvPr/>
        </p:nvSpPr>
        <p:spPr>
          <a:xfrm>
            <a:off x="5444490" y="2524125"/>
            <a:ext cx="2152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Catalogue</a:t>
            </a:r>
            <a:endParaRPr b="1" sz="2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LE PROJET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PromptVerse, c’est quoi 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548640" y="13716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9AA3AE"/>
                </a:solidFill>
              </a:rPr>
              <a:t>Notre plateforme s’adresse à une communauté digitale, créative et orientée productivité (20-40 ans)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8"/>
          <p:cNvGrpSpPr/>
          <p:nvPr/>
        </p:nvGrpSpPr>
        <p:grpSpPr>
          <a:xfrm>
            <a:off x="571500" y="2190750"/>
            <a:ext cx="3429000" cy="3905400"/>
            <a:chOff x="0" y="0"/>
            <a:chExt cx="3429000" cy="3905400"/>
          </a:xfrm>
        </p:grpSpPr>
        <p:sp>
          <p:nvSpPr>
            <p:cNvPr id="114" name="Google Shape;114;p8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49999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304800" y="34290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304800" y="37795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8"/>
            <p:cNvSpPr txBox="1"/>
            <p:nvPr/>
          </p:nvSpPr>
          <p:spPr>
            <a:xfrm>
              <a:off x="304800" y="1066800"/>
              <a:ext cx="2819400" cy="253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Créateurs &amp; Experts</a:t>
              </a:r>
              <a:endParaRPr b="1" i="0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0EA5E9"/>
                  </a:solidFill>
                  <a:latin typeface="Arial"/>
                  <a:ea typeface="Arial"/>
                  <a:cs typeface="Arial"/>
                  <a:sym typeface="Arial"/>
                </a:rPr>
                <a:t>Créateurs de contenu, freelances et professionnels du web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Cherchant à rentabiliser leur expertise en ingénierie de prompts et valoriser leur savoir-faire AI.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8"/>
          <p:cNvGrpSpPr/>
          <p:nvPr/>
        </p:nvGrpSpPr>
        <p:grpSpPr>
          <a:xfrm>
            <a:off x="4381500" y="2190750"/>
            <a:ext cx="3429000" cy="3905400"/>
            <a:chOff x="0" y="0"/>
            <a:chExt cx="3429000" cy="3905400"/>
          </a:xfrm>
        </p:grpSpPr>
        <p:sp>
          <p:nvSpPr>
            <p:cNvPr id="120" name="Google Shape;120;p8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49999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304800" y="34290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304800" y="37795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8"/>
            <p:cNvSpPr txBox="1"/>
            <p:nvPr/>
          </p:nvSpPr>
          <p:spPr>
            <a:xfrm>
              <a:off x="304800" y="1066800"/>
              <a:ext cx="2819400" cy="253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Entrepreneurs &amp; Pros</a:t>
              </a:r>
              <a:endParaRPr b="1" i="0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8B5CF6"/>
                  </a:solidFill>
                  <a:latin typeface="Arial"/>
                  <a:ea typeface="Arial"/>
                  <a:cs typeface="Arial"/>
                  <a:sym typeface="Arial"/>
                </a:rPr>
                <a:t>Entrepreneurs, marketeurs et indépendants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Souhaitant automatiser leurs tâches, gagner du temps et contourner le syndrome de la page blanche face aux IA.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8"/>
          <p:cNvGrpSpPr/>
          <p:nvPr/>
        </p:nvGrpSpPr>
        <p:grpSpPr>
          <a:xfrm>
            <a:off x="8191500" y="2190750"/>
            <a:ext cx="3429000" cy="3905400"/>
            <a:chOff x="0" y="0"/>
            <a:chExt cx="3429000" cy="3905400"/>
          </a:xfrm>
        </p:grpSpPr>
        <p:sp>
          <p:nvSpPr>
            <p:cNvPr id="126" name="Google Shape;126;p8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1238250" y="0"/>
              <a:ext cx="952500" cy="28500"/>
            </a:xfrm>
            <a:prstGeom prst="roundRect">
              <a:avLst>
                <a:gd fmla="val 49999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304800" y="34290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304800" y="37795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0" name="Google Shape;130;p8"/>
            <p:cNvSpPr txBox="1"/>
            <p:nvPr/>
          </p:nvSpPr>
          <p:spPr>
            <a:xfrm>
              <a:off x="304800" y="1066800"/>
              <a:ext cx="2819400" cy="253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Early Adopters</a:t>
              </a:r>
              <a:endParaRPr b="1" i="0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Curieux et passionnés de nouvelles technologies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En quête d'outils clés en main pour booster l'efficacité de leurs projets quotidiens.</a:t>
              </a:r>
              <a:endParaRPr b="1" i="0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11185874" y="6446520"/>
            <a:ext cx="45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AA3AE"/>
                </a:solidFill>
              </a:rPr>
              <a:t>6</a:t>
            </a:r>
            <a:endParaRPr b="0" i="0" sz="10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9"/>
          <p:cNvGrpSpPr/>
          <p:nvPr/>
        </p:nvGrpSpPr>
        <p:grpSpPr>
          <a:xfrm>
            <a:off x="548640" y="320040"/>
            <a:ext cx="8229600" cy="274200"/>
            <a:chOff x="0" y="0"/>
            <a:chExt cx="8229600" cy="274200"/>
          </a:xfrm>
        </p:grpSpPr>
        <p:sp>
          <p:nvSpPr>
            <p:cNvPr id="139" name="Google Shape;139;p9"/>
            <p:cNvSpPr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9"/>
            <p:cNvSpPr txBox="1"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F3366"/>
                  </a:solidFill>
                  <a:latin typeface="Arial"/>
                  <a:ea typeface="Arial"/>
                  <a:cs typeface="Arial"/>
                  <a:sym typeface="Arial"/>
                </a:rPr>
                <a:t>PLAN DE LA PRÉSENTATION</a:t>
              </a:r>
              <a:endParaRPr b="1" i="0" sz="1100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9"/>
          <p:cNvGrpSpPr/>
          <p:nvPr/>
        </p:nvGrpSpPr>
        <p:grpSpPr>
          <a:xfrm>
            <a:off x="548640" y="566928"/>
            <a:ext cx="11094300" cy="685800"/>
            <a:chOff x="0" y="0"/>
            <a:chExt cx="11094300" cy="685800"/>
          </a:xfrm>
        </p:grpSpPr>
        <p:sp>
          <p:nvSpPr>
            <p:cNvPr id="142" name="Google Shape;142;p9"/>
            <p:cNvSpPr/>
            <p:nvPr/>
          </p:nvSpPr>
          <p:spPr>
            <a:xfrm>
              <a:off x="0" y="0"/>
              <a:ext cx="1109430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 txBox="1"/>
            <p:nvPr/>
          </p:nvSpPr>
          <p:spPr>
            <a:xfrm>
              <a:off x="0" y="0"/>
              <a:ext cx="1109430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Sommaire</a:t>
              </a:r>
              <a:endParaRPr b="1" i="0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9"/>
          <p:cNvGrpSpPr/>
          <p:nvPr/>
        </p:nvGrpSpPr>
        <p:grpSpPr>
          <a:xfrm>
            <a:off x="548640" y="1524000"/>
            <a:ext cx="5334000" cy="876300"/>
            <a:chOff x="0" y="-1381125"/>
            <a:chExt cx="5334000" cy="876300"/>
          </a:xfrm>
        </p:grpSpPr>
        <p:sp>
          <p:nvSpPr>
            <p:cNvPr id="145" name="Google Shape;145;p9"/>
            <p:cNvSpPr/>
            <p:nvPr/>
          </p:nvSpPr>
          <p:spPr>
            <a:xfrm>
              <a:off x="0" y="-1381125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171450" y="-1209675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 txBox="1"/>
            <p:nvPr/>
          </p:nvSpPr>
          <p:spPr>
            <a:xfrm>
              <a:off x="171450" y="-1209675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9"/>
            <p:cNvSpPr txBox="1"/>
            <p:nvPr/>
          </p:nvSpPr>
          <p:spPr>
            <a:xfrm>
              <a:off x="857250" y="-1381125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Organisation et outils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9"/>
          <p:cNvGrpSpPr/>
          <p:nvPr/>
        </p:nvGrpSpPr>
        <p:grpSpPr>
          <a:xfrm>
            <a:off x="548640" y="2590800"/>
            <a:ext cx="5334000" cy="876300"/>
            <a:chOff x="0" y="-1790700"/>
            <a:chExt cx="5334000" cy="876300"/>
          </a:xfrm>
        </p:grpSpPr>
        <p:sp>
          <p:nvSpPr>
            <p:cNvPr id="150" name="Google Shape;150;p9"/>
            <p:cNvSpPr/>
            <p:nvPr/>
          </p:nvSpPr>
          <p:spPr>
            <a:xfrm>
              <a:off x="0" y="-1790700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171450" y="-1619250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 txBox="1"/>
            <p:nvPr/>
          </p:nvSpPr>
          <p:spPr>
            <a:xfrm>
              <a:off x="171450" y="-1619250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9"/>
            <p:cNvSpPr txBox="1"/>
            <p:nvPr/>
          </p:nvSpPr>
          <p:spPr>
            <a:xfrm>
              <a:off x="857250" y="-1790700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Conception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9"/>
          <p:cNvGrpSpPr/>
          <p:nvPr/>
        </p:nvGrpSpPr>
        <p:grpSpPr>
          <a:xfrm>
            <a:off x="548640" y="3657600"/>
            <a:ext cx="5334000" cy="876300"/>
            <a:chOff x="-3794760" y="2228850"/>
            <a:chExt cx="5334000" cy="876300"/>
          </a:xfrm>
        </p:grpSpPr>
        <p:sp>
          <p:nvSpPr>
            <p:cNvPr id="155" name="Google Shape;155;p9"/>
            <p:cNvSpPr/>
            <p:nvPr/>
          </p:nvSpPr>
          <p:spPr>
            <a:xfrm>
              <a:off x="-3794760" y="2228850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-3623310" y="2400300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9"/>
            <p:cNvSpPr txBox="1"/>
            <p:nvPr/>
          </p:nvSpPr>
          <p:spPr>
            <a:xfrm>
              <a:off x="-3623310" y="2400300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-2937510" y="2228850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Architecture et back-end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9"/>
          <p:cNvGrpSpPr/>
          <p:nvPr/>
        </p:nvGrpSpPr>
        <p:grpSpPr>
          <a:xfrm>
            <a:off x="548640" y="4724400"/>
            <a:ext cx="5334000" cy="876300"/>
            <a:chOff x="-3794760" y="1819275"/>
            <a:chExt cx="5334000" cy="876300"/>
          </a:xfrm>
        </p:grpSpPr>
        <p:sp>
          <p:nvSpPr>
            <p:cNvPr id="160" name="Google Shape;160;p9"/>
            <p:cNvSpPr/>
            <p:nvPr/>
          </p:nvSpPr>
          <p:spPr>
            <a:xfrm>
              <a:off x="-3794760" y="1819275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-3623310" y="1990725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 txBox="1"/>
            <p:nvPr/>
          </p:nvSpPr>
          <p:spPr>
            <a:xfrm>
              <a:off x="-3623310" y="1990725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9"/>
            <p:cNvSpPr txBox="1"/>
            <p:nvPr/>
          </p:nvSpPr>
          <p:spPr>
            <a:xfrm>
              <a:off x="-2937510" y="1819275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Front-end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9"/>
          <p:cNvGrpSpPr/>
          <p:nvPr/>
        </p:nvGrpSpPr>
        <p:grpSpPr>
          <a:xfrm>
            <a:off x="6309360" y="1524000"/>
            <a:ext cx="5334000" cy="876300"/>
            <a:chOff x="1965960" y="-2857500"/>
            <a:chExt cx="5334000" cy="876300"/>
          </a:xfrm>
        </p:grpSpPr>
        <p:sp>
          <p:nvSpPr>
            <p:cNvPr id="165" name="Google Shape;165;p9"/>
            <p:cNvSpPr/>
            <p:nvPr/>
          </p:nvSpPr>
          <p:spPr>
            <a:xfrm>
              <a:off x="1965960" y="-2857500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2137410" y="-2686050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9"/>
            <p:cNvSpPr txBox="1"/>
            <p:nvPr/>
          </p:nvSpPr>
          <p:spPr>
            <a:xfrm>
              <a:off x="2137410" y="-2686050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2823210" y="-2857500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Sécurité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9"/>
          <p:cNvGrpSpPr/>
          <p:nvPr/>
        </p:nvGrpSpPr>
        <p:grpSpPr>
          <a:xfrm>
            <a:off x="6309360" y="3124200"/>
            <a:ext cx="5334000" cy="876300"/>
            <a:chOff x="-1828800" y="1695450"/>
            <a:chExt cx="5334000" cy="876300"/>
          </a:xfrm>
        </p:grpSpPr>
        <p:sp>
          <p:nvSpPr>
            <p:cNvPr id="170" name="Google Shape;170;p9"/>
            <p:cNvSpPr/>
            <p:nvPr/>
          </p:nvSpPr>
          <p:spPr>
            <a:xfrm>
              <a:off x="-1828800" y="1695450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-1657350" y="1866900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14B8A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-1657350" y="1866900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-971550" y="1695450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Tests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9"/>
          <p:cNvGrpSpPr/>
          <p:nvPr/>
        </p:nvGrpSpPr>
        <p:grpSpPr>
          <a:xfrm>
            <a:off x="6309360" y="4724400"/>
            <a:ext cx="5334000" cy="876300"/>
            <a:chOff x="-1828800" y="1819275"/>
            <a:chExt cx="5334000" cy="876300"/>
          </a:xfrm>
        </p:grpSpPr>
        <p:sp>
          <p:nvSpPr>
            <p:cNvPr id="175" name="Google Shape;175;p9"/>
            <p:cNvSpPr/>
            <p:nvPr/>
          </p:nvSpPr>
          <p:spPr>
            <a:xfrm>
              <a:off x="-1828800" y="1819275"/>
              <a:ext cx="5334000" cy="876300"/>
            </a:xfrm>
            <a:prstGeom prst="roundRect">
              <a:avLst>
                <a:gd fmla="val 15216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-1657350" y="1990725"/>
              <a:ext cx="533400" cy="533400"/>
            </a:xfrm>
            <a:prstGeom prst="roundRect">
              <a:avLst>
                <a:gd fmla="val 25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-1657350" y="1990725"/>
              <a:ext cx="5334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9"/>
            <p:cNvSpPr txBox="1"/>
            <p:nvPr/>
          </p:nvSpPr>
          <p:spPr>
            <a:xfrm>
              <a:off x="-971550" y="1819275"/>
              <a:ext cx="42864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DevOps et déploiement</a:t>
              </a:r>
              <a:endParaRPr b="1" i="0" sz="16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strike="noStrike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1185874" y="6446520"/>
            <a:ext cx="45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strike="noStrike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ORGANISATION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Stack et outils</a:t>
            </a:r>
            <a:endParaRPr b="1" i="0" sz="32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48640" y="1447800"/>
            <a:ext cx="3520500" cy="38100"/>
          </a:xfrm>
          <a:prstGeom prst="roundRect">
            <a:avLst>
              <a:gd fmla="val 50000" name="adj"/>
            </a:avLst>
          </a:prstGeom>
          <a:solidFill>
            <a:srgbClr val="FF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548640" y="1447800"/>
            <a:ext cx="3520500" cy="4686300"/>
          </a:xfrm>
          <a:prstGeom prst="roundRect">
            <a:avLst>
              <a:gd fmla="val 324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777240" y="20955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777240" y="1600200"/>
            <a:ext cx="3063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1" i="0" sz="18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853440" y="21717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115" y="22383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777240" y="27432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348740" y="21717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53440" y="28194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115" y="28860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777240" y="33909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348740" y="28194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53440" y="34671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9333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115" y="35337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777240" y="40386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348740" y="34671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53440" y="41148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115" y="41814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777240" y="46863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1348740" y="41148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TanStack Query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53440" y="47625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0115" y="48291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777240" y="53340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1348740" y="47625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Tailwind + daisyUI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53440" y="54102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0115" y="54768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1348740" y="54102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React Router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297680" y="1447800"/>
            <a:ext cx="3520500" cy="38100"/>
          </a:xfrm>
          <a:prstGeom prst="roundRect">
            <a:avLst>
              <a:gd fmla="val 50000" name="adj"/>
            </a:avLst>
          </a:prstGeom>
          <a:solidFill>
            <a:srgbClr val="FF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297680" y="1447800"/>
            <a:ext cx="3520500" cy="4686300"/>
          </a:xfrm>
          <a:prstGeom prst="roundRect">
            <a:avLst>
              <a:gd fmla="val 324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526280" y="20955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4526280" y="1600200"/>
            <a:ext cx="3063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1" i="0" sz="18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602480" y="21717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946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69155" y="22383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4526280" y="27432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097780" y="21717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NestJS 11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602480" y="28194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69155" y="28860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4526280" y="33909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5097780" y="28194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TypeORM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602480" y="34671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854D0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69155" y="35337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4526280" y="40386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5097780" y="34671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MySQL 8.4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602480" y="41148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69155" y="41814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4526280" y="46863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5097780" y="41148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JWT + bcrypt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602480" y="47625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9333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9155" y="48291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4526280" y="53340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5097780" y="47625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Stripe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602480" y="54102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69155" y="54768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5097780" y="54102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Jest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046720" y="1447800"/>
            <a:ext cx="3520500" cy="38100"/>
          </a:xfrm>
          <a:prstGeom prst="roundRect">
            <a:avLst>
              <a:gd fmla="val 50000" name="adj"/>
            </a:avLst>
          </a:prstGeom>
          <a:solidFill>
            <a:srgbClr val="FF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046720" y="1447800"/>
            <a:ext cx="3520500" cy="4686300"/>
          </a:xfrm>
          <a:prstGeom prst="roundRect">
            <a:avLst>
              <a:gd fmla="val 324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275320" y="20955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8275320" y="1600200"/>
            <a:ext cx="3063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DevOps et outils</a:t>
            </a:r>
            <a:endParaRPr b="1" i="0" sz="18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351520" y="21717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18195" y="22383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8275320" y="27432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8846820" y="21717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351520" y="28194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18195" y="28860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8275320" y="33909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8846820" y="28194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351520" y="34671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18195" y="35337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8275320" y="40386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8846820" y="34671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351520" y="41148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946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18195" y="41814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>
            <a:off x="8275320" y="46863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8846820" y="41148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351520" y="47625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18195" y="48291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8275320" y="5334000"/>
            <a:ext cx="3063300" cy="533400"/>
          </a:xfrm>
          <a:prstGeom prst="roundRect">
            <a:avLst>
              <a:gd fmla="val 17857" name="adj"/>
            </a:avLst>
          </a:prstGeom>
          <a:solidFill>
            <a:srgbClr val="242C37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8846820" y="47625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Swagger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351520" y="54102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854D0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418195" y="5476875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 txBox="1"/>
          <p:nvPr/>
        </p:nvSpPr>
        <p:spPr>
          <a:xfrm>
            <a:off x="8846820" y="5410200"/>
            <a:ext cx="23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1" i="0" sz="14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ORGANISATION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Communication et organisation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p11"/>
          <p:cNvGrpSpPr/>
          <p:nvPr/>
        </p:nvGrpSpPr>
        <p:grpSpPr>
          <a:xfrm>
            <a:off x="548650" y="1619330"/>
            <a:ext cx="11094720" cy="4209440"/>
            <a:chOff x="548640" y="1619250"/>
            <a:chExt cx="11094720" cy="4191000"/>
          </a:xfrm>
        </p:grpSpPr>
        <p:sp>
          <p:nvSpPr>
            <p:cNvPr id="279" name="Google Shape;279;p11"/>
            <p:cNvSpPr/>
            <p:nvPr/>
          </p:nvSpPr>
          <p:spPr>
            <a:xfrm>
              <a:off x="548640" y="1619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853440" y="1924050"/>
              <a:ext cx="685800" cy="685800"/>
            </a:xfrm>
            <a:prstGeom prst="roundRect">
              <a:avLst>
                <a:gd fmla="val 22222" name="adj"/>
              </a:avLst>
            </a:prstGeom>
            <a:solidFill>
              <a:srgbClr val="00BF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1"/>
            <p:cNvGrpSpPr/>
            <p:nvPr/>
          </p:nvGrpSpPr>
          <p:grpSpPr>
            <a:xfrm>
              <a:off x="853440" y="1924050"/>
              <a:ext cx="685800" cy="741299"/>
              <a:chOff x="0" y="0"/>
              <a:chExt cx="685800" cy="741299"/>
            </a:xfrm>
          </p:grpSpPr>
          <p:sp>
            <p:nvSpPr>
              <p:cNvPr id="282" name="Google Shape;282;p1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1"/>
              <p:cNvSpPr txBox="1"/>
              <p:nvPr/>
            </p:nvSpPr>
            <p:spPr>
              <a:xfrm>
                <a:off x="0" y="55499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sync</a:t>
                </a:r>
                <a:endParaRPr sz="3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84" name="Google Shape;284;p11"/>
            <p:cNvGrpSpPr/>
            <p:nvPr/>
          </p:nvGrpSpPr>
          <p:grpSpPr>
            <a:xfrm>
              <a:off x="853440" y="2838450"/>
              <a:ext cx="2819400" cy="2762400"/>
              <a:chOff x="0" y="0"/>
              <a:chExt cx="2819400" cy="2762400"/>
            </a:xfrm>
          </p:grpSpPr>
          <p:sp>
            <p:nvSpPr>
              <p:cNvPr id="285" name="Google Shape;285;p11"/>
              <p:cNvSpPr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1"/>
              <p:cNvSpPr txBox="1"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rPr>
                  <a:t>Scrum</a:t>
                </a:r>
                <a:endParaRPr b="1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3366"/>
                    </a:solidFill>
                    <a:latin typeface="Arial"/>
                    <a:ea typeface="Arial"/>
                    <a:cs typeface="Arial"/>
                    <a:sym typeface="Arial"/>
                  </a:rPr>
                  <a:t>Méthodologie</a:t>
                </a:r>
                <a:endParaRPr b="1" sz="1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rPr>
                  <a:t>8 sprints avec revue à chaque fin</a:t>
                </a:r>
                <a:endParaRPr b="1" sz="13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" name="Google Shape;287;p11"/>
            <p:cNvSpPr/>
            <p:nvPr/>
          </p:nvSpPr>
          <p:spPr>
            <a:xfrm>
              <a:off x="4381500" y="1619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4686300" y="1924050"/>
              <a:ext cx="685800" cy="685800"/>
            </a:xfrm>
            <a:prstGeom prst="roundRect">
              <a:avLst>
                <a:gd fmla="val 22222" name="adj"/>
              </a:avLst>
            </a:prstGeom>
            <a:solidFill>
              <a:srgbClr val="0079B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11"/>
            <p:cNvGrpSpPr/>
            <p:nvPr/>
          </p:nvGrpSpPr>
          <p:grpSpPr>
            <a:xfrm>
              <a:off x="4686300" y="1924050"/>
              <a:ext cx="685800" cy="741299"/>
              <a:chOff x="0" y="0"/>
              <a:chExt cx="685800" cy="741299"/>
            </a:xfrm>
          </p:grpSpPr>
          <p:sp>
            <p:nvSpPr>
              <p:cNvPr id="290" name="Google Shape;290;p1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1"/>
              <p:cNvSpPr txBox="1"/>
              <p:nvPr/>
            </p:nvSpPr>
            <p:spPr>
              <a:xfrm>
                <a:off x="0" y="55499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dashboard</a:t>
                </a:r>
                <a:endParaRPr sz="3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92" name="Google Shape;292;p11"/>
            <p:cNvGrpSpPr/>
            <p:nvPr/>
          </p:nvGrpSpPr>
          <p:grpSpPr>
            <a:xfrm>
              <a:off x="4686300" y="2838450"/>
              <a:ext cx="2819400" cy="2762400"/>
              <a:chOff x="0" y="0"/>
              <a:chExt cx="2819400" cy="2762400"/>
            </a:xfrm>
          </p:grpSpPr>
          <p:sp>
            <p:nvSpPr>
              <p:cNvPr id="293" name="Google Shape;293;p11"/>
              <p:cNvSpPr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1"/>
              <p:cNvSpPr txBox="1"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rPr>
                  <a:t>Trello</a:t>
                </a:r>
                <a:endParaRPr b="1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4D7D"/>
                    </a:solidFill>
                    <a:latin typeface="Arial"/>
                    <a:ea typeface="Arial"/>
                    <a:cs typeface="Arial"/>
                    <a:sym typeface="Arial"/>
                  </a:rPr>
                  <a:t>User Stories</a:t>
                </a:r>
                <a:endParaRPr b="1" sz="1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rPr>
                  <a:t>Backlog par sprint, user stories</a:t>
                </a:r>
                <a:endParaRPr b="1" sz="13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5" name="Google Shape;295;p11"/>
            <p:cNvSpPr/>
            <p:nvPr/>
          </p:nvSpPr>
          <p:spPr>
            <a:xfrm>
              <a:off x="8214360" y="1619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8519160" y="1924050"/>
              <a:ext cx="685800" cy="685800"/>
            </a:xfrm>
            <a:prstGeom prst="roundRect">
              <a:avLst>
                <a:gd fmla="val 22222" name="adj"/>
              </a:avLst>
            </a:prstGeom>
            <a:solidFill>
              <a:srgbClr val="24292E"/>
            </a:solidFill>
            <a:ln cap="flat" cmpd="sng" w="9525">
              <a:solidFill>
                <a:srgbClr val="444C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" name="Google Shape;297;p11"/>
            <p:cNvGrpSpPr/>
            <p:nvPr/>
          </p:nvGrpSpPr>
          <p:grpSpPr>
            <a:xfrm>
              <a:off x="8519160" y="1924050"/>
              <a:ext cx="685800" cy="741299"/>
              <a:chOff x="0" y="0"/>
              <a:chExt cx="685800" cy="741299"/>
            </a:xfrm>
          </p:grpSpPr>
          <p:sp>
            <p:nvSpPr>
              <p:cNvPr id="298" name="Google Shape;298;p1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1"/>
              <p:cNvSpPr txBox="1"/>
              <p:nvPr/>
            </p:nvSpPr>
            <p:spPr>
              <a:xfrm>
                <a:off x="0" y="55499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3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300" name="Google Shape;300;p11"/>
            <p:cNvGrpSpPr/>
            <p:nvPr/>
          </p:nvGrpSpPr>
          <p:grpSpPr>
            <a:xfrm>
              <a:off x="8519160" y="2838450"/>
              <a:ext cx="2819400" cy="2762400"/>
              <a:chOff x="0" y="0"/>
              <a:chExt cx="2819400" cy="2762400"/>
            </a:xfrm>
          </p:grpSpPr>
          <p:sp>
            <p:nvSpPr>
              <p:cNvPr id="301" name="Google Shape;301;p11"/>
              <p:cNvSpPr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1"/>
              <p:cNvSpPr txBox="1"/>
              <p:nvPr/>
            </p:nvSpPr>
            <p:spPr>
              <a:xfrm>
                <a:off x="0" y="0"/>
                <a:ext cx="28194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rPr>
                  <a:t>GitHub</a:t>
                </a:r>
                <a:endParaRPr b="1" sz="2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3377"/>
                    </a:solidFill>
                    <a:latin typeface="Arial"/>
                    <a:ea typeface="Arial"/>
                    <a:cs typeface="Arial"/>
                    <a:sym typeface="Arial"/>
                  </a:rPr>
                  <a:t>Versioning</a:t>
                </a:r>
                <a:endParaRPr b="1" sz="12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rPr>
                  <a:t>Branches dev / main / deploy</a:t>
                </a:r>
                <a:endParaRPr b="1" sz="13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 txBox="1"/>
          <p:nvPr/>
        </p:nvSpPr>
        <p:spPr>
          <a:xfrm>
            <a:off x="54879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1118600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823110" y="1920240"/>
            <a:ext cx="2743200" cy="118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74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82311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Conception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82311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Des besoins aux modèles, avant la première ligne de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8504070" y="1737360"/>
            <a:ext cx="2926200" cy="2926200"/>
          </a:xfrm>
          <a:prstGeom prst="ellipse">
            <a:avLst/>
          </a:prstGeom>
          <a:solidFill>
            <a:srgbClr val="1A2029"/>
          </a:solidFill>
          <a:ln cap="flat" cmpd="sng" w="19050">
            <a:solidFill>
              <a:srgbClr val="FF4D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8909826" y="2353450"/>
            <a:ext cx="2114700" cy="208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0">
                <a:solidFill>
                  <a:srgbClr val="FF336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design_services</a:t>
            </a:r>
            <a:endParaRPr b="0" sz="9600">
              <a:solidFill>
                <a:srgbClr val="FF336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3366"/>
                </a:solidFill>
                <a:latin typeface="Arial"/>
                <a:ea typeface="Arial"/>
                <a:cs typeface="Arial"/>
                <a:sym typeface="Arial"/>
              </a:rPr>
              <a:t>ORGANISATION</a:t>
            </a:r>
            <a:endParaRPr b="1" i="0" sz="1100" u="none" strike="noStrike">
              <a:solidFill>
                <a:srgbClr val="FF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548640" y="619125"/>
            <a:ext cx="11094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b="1" i="0" sz="3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3"/>
          <p:cNvGrpSpPr/>
          <p:nvPr/>
        </p:nvGrpSpPr>
        <p:grpSpPr>
          <a:xfrm>
            <a:off x="548640" y="1619250"/>
            <a:ext cx="11094720" cy="4286400"/>
            <a:chOff x="548640" y="1619250"/>
            <a:chExt cx="11094720" cy="4286400"/>
          </a:xfrm>
        </p:grpSpPr>
        <p:sp>
          <p:nvSpPr>
            <p:cNvPr id="325" name="Google Shape;325;p13"/>
            <p:cNvSpPr/>
            <p:nvPr/>
          </p:nvSpPr>
          <p:spPr>
            <a:xfrm>
              <a:off x="548640" y="161925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853440" y="1924050"/>
              <a:ext cx="609600" cy="609600"/>
            </a:xfrm>
            <a:prstGeom prst="roundRect">
              <a:avLst>
                <a:gd fmla="val 21875" name="adj"/>
              </a:avLst>
            </a:prstGeom>
            <a:solidFill>
              <a:srgbClr val="00BF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3"/>
            <p:cNvSpPr txBox="1"/>
            <p:nvPr/>
          </p:nvSpPr>
          <p:spPr>
            <a:xfrm>
              <a:off x="853440" y="2714625"/>
              <a:ext cx="28194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Rôle Utilisateur</a:t>
              </a:r>
              <a:endParaRPr b="1" i="0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Parcourir et acheter des prompts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Publier ses propres contenus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Gérer son profil, ventes et achats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4381500" y="161925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4686300" y="1924050"/>
              <a:ext cx="609600" cy="609600"/>
            </a:xfrm>
            <a:prstGeom prst="roundRect">
              <a:avLst>
                <a:gd fmla="val 21875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3"/>
            <p:cNvSpPr txBox="1"/>
            <p:nvPr/>
          </p:nvSpPr>
          <p:spPr>
            <a:xfrm>
              <a:off x="4686300" y="2714625"/>
              <a:ext cx="28194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ADMIN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F9F1C"/>
                  </a:solidFill>
                  <a:latin typeface="Arial"/>
                  <a:ea typeface="Arial"/>
                  <a:cs typeface="Arial"/>
                  <a:sym typeface="Arial"/>
                </a:rPr>
                <a:t>Rôle Administrateur</a:t>
              </a:r>
              <a:endParaRPr b="1" i="0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Toutes les fonctionnalités USER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Gérer les catégories et outils IA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Consulter la liste des utilisateurs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8214360" y="161925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519160" y="1924050"/>
              <a:ext cx="609600" cy="609600"/>
            </a:xfrm>
            <a:prstGeom prst="roundRect">
              <a:avLst>
                <a:gd fmla="val 21875" name="adj"/>
              </a:avLst>
            </a:prstGeom>
            <a:solidFill>
              <a:srgbClr val="9D4ED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 txBox="1"/>
            <p:nvPr/>
          </p:nvSpPr>
          <p:spPr>
            <a:xfrm>
              <a:off x="8519160" y="2714625"/>
              <a:ext cx="28194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SUPER ADMIN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9D4EDD"/>
                  </a:solidFill>
                  <a:latin typeface="Arial"/>
                  <a:ea typeface="Arial"/>
                  <a:cs typeface="Arial"/>
                  <a:sym typeface="Arial"/>
                </a:rPr>
                <a:t>Rôle Super Administrateur</a:t>
              </a:r>
              <a:endParaRPr b="1" i="0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Toutes les permissions ADMIN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Modifier le rôle d'un utilisateur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56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2000"/>
                <a:buFont typeface="Arial"/>
                <a:buChar char="●"/>
              </a:pPr>
              <a:r>
                <a:rPr b="0" i="0" lang="en-US" sz="12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Gestion globale des accès</a:t>
              </a:r>
              <a:endParaRPr b="1" i="0" sz="20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13"/>
          <p:cNvSpPr txBox="1"/>
          <p:nvPr/>
        </p:nvSpPr>
        <p:spPr>
          <a:xfrm>
            <a:off x="853440" y="1970786"/>
            <a:ext cx="609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person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4686300" y="1970786"/>
            <a:ext cx="609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admin_panel_settings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8519160" y="1970786"/>
            <a:ext cx="609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UML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Diagramme de cas d’utilisation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548640" y="1417320"/>
            <a:ext cx="7406700" cy="4846200"/>
          </a:xfrm>
          <a:prstGeom prst="roundRect">
            <a:avLst>
              <a:gd fmla="val 1887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1000/-home-abduljaber-formation-cda-projet-final-promptVerse/5eba1b07-3930-4f30-903f-f5f37cb75edb/scratchpad/diapo/assets/usecase.png" id="347" name="Google Shape;3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006" y="1554480"/>
            <a:ext cx="6473907" cy="457200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4"/>
          <p:cNvSpPr txBox="1"/>
          <p:nvPr/>
        </p:nvSpPr>
        <p:spPr>
          <a:xfrm>
            <a:off x="8191500" y="1428750"/>
            <a:ext cx="35244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4 Acteurs + Stripe </a:t>
            </a:r>
            <a:r>
              <a:rPr b="0" lang="en-US" sz="12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(Système externe)</a:t>
            </a:r>
            <a:endParaRPr b="1" sz="18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rPr>
              <a:t>Hiérarchie &amp; Héritage :</a:t>
            </a:r>
            <a:endParaRPr b="1" sz="1200">
              <a:solidFill>
                <a:srgbClr val="00BFA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Visiteur </a:t>
            </a:r>
            <a:r>
              <a:rPr lang="en-US" sz="12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 USER </a:t>
            </a:r>
            <a:r>
              <a:rPr lang="en-US" sz="12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 ADMIN </a:t>
            </a:r>
            <a:r>
              <a:rPr lang="en-US" sz="12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 SUPER_ADMIN</a:t>
            </a:r>
            <a:endParaRPr sz="1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9F1C"/>
                </a:solidFill>
                <a:latin typeface="Arial"/>
                <a:ea typeface="Arial"/>
                <a:cs typeface="Arial"/>
                <a:sym typeface="Arial"/>
              </a:rPr>
              <a:t>Rôles des acteurs :</a:t>
            </a:r>
            <a:endParaRPr b="1" sz="1200">
              <a:solidFill>
                <a:srgbClr val="FF9F1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Visiteur :</a:t>
            </a:r>
            <a:r>
              <a:rPr lang="en-US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 Parcourt &amp; consulte le catalogue</a:t>
            </a:r>
            <a:endParaRPr sz="11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USER :</a:t>
            </a:r>
            <a:r>
              <a:rPr lang="en-US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 Achète, publie &amp; gère ses données</a:t>
            </a:r>
            <a:endParaRPr sz="11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ADMIN :</a:t>
            </a:r>
            <a:r>
              <a:rPr lang="en-US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 Gère catégories &amp; outils IA</a:t>
            </a:r>
            <a:endParaRPr sz="11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SUPER_ADMIN :</a:t>
            </a:r>
            <a:r>
              <a:rPr lang="en-US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 Gestion globale des utilisateurs</a:t>
            </a:r>
            <a:endParaRPr sz="11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D4EDD"/>
                </a:solidFill>
                <a:latin typeface="Arial"/>
                <a:ea typeface="Arial"/>
                <a:cs typeface="Arial"/>
                <a:sym typeface="Arial"/>
              </a:rPr>
              <a:t>Relation «include» :</a:t>
            </a:r>
            <a:endParaRPr b="1" sz="1200">
              <a:solidFill>
                <a:srgbClr val="9D4E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L’achat d'un prompt inclut obligatoirement la confirmation de paiement par webhook via Stripe.</a:t>
            </a:r>
            <a:endParaRPr sz="11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MERISE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Modèle conceptuel de données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48640" y="1417320"/>
            <a:ext cx="11109960" cy="420624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1000/-home-abduljaber-formation-cda-projet-final-promptVerse/5eba1b07-3930-4f30-903f-f5f37cb75edb/scratchpad/diapo/assets/mcd.png" id="359" name="Google Shape;3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0829" y="1600200"/>
            <a:ext cx="7545581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ACHÈTE porte ses propres données (montant, statut, session Stripe) → devient la table purchases dans le MLD.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9AA3AE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lang="en-US" sz="3200">
                <a:solidFill>
                  <a:srgbClr val="EEF1F4"/>
                </a:solidFill>
              </a:rPr>
              <a:t>PD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16"/>
          <p:cNvPicPr preferRelativeResize="0"/>
          <p:nvPr/>
        </p:nvPicPr>
        <p:blipFill rotWithShape="1">
          <a:blip r:embed="rId3">
            <a:alphaModFix/>
          </a:blip>
          <a:srcRect b="12321" l="0" r="0" t="12321"/>
          <a:stretch/>
        </p:blipFill>
        <p:spPr>
          <a:xfrm>
            <a:off x="701040" y="1554480"/>
            <a:ext cx="5181600" cy="429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16"/>
          <p:cNvGrpSpPr/>
          <p:nvPr/>
        </p:nvGrpSpPr>
        <p:grpSpPr>
          <a:xfrm>
            <a:off x="6286500" y="1417320"/>
            <a:ext cx="5353200" cy="2143200"/>
            <a:chOff x="0" y="0"/>
            <a:chExt cx="5353200" cy="2143200"/>
          </a:xfrm>
        </p:grpSpPr>
        <p:sp>
          <p:nvSpPr>
            <p:cNvPr id="373" name="Google Shape;373;p16"/>
            <p:cNvSpPr/>
            <p:nvPr/>
          </p:nvSpPr>
          <p:spPr>
            <a:xfrm>
              <a:off x="0" y="0"/>
              <a:ext cx="5353200" cy="2143200"/>
            </a:xfrm>
            <a:prstGeom prst="roundRect">
              <a:avLst>
                <a:gd fmla="val 5333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6"/>
            <p:cNvSpPr txBox="1"/>
            <p:nvPr/>
          </p:nvSpPr>
          <p:spPr>
            <a:xfrm>
              <a:off x="228600" y="190500"/>
              <a:ext cx="489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Spécifications Techniques MPD</a:t>
              </a:r>
              <a:endParaRPr b="1" sz="15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EF1F4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8 Tables MySQL :</a:t>
              </a:r>
              <a:r>
                <a:rPr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Structure relationnelle complète et normalisée</a:t>
              </a:r>
              <a:endParaRPr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Identifiants UUID :</a:t>
              </a:r>
              <a:r>
                <a:rPr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Clés primaires uniques et sécurisées (v4)</a:t>
              </a:r>
              <a:endParaRPr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Montants DECIMAL :</a:t>
              </a:r>
              <a:r>
                <a:rPr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Précision exacte pour les transactions Stripe</a:t>
              </a:r>
              <a:endParaRPr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16"/>
          <p:cNvGrpSpPr/>
          <p:nvPr/>
        </p:nvGrpSpPr>
        <p:grpSpPr>
          <a:xfrm>
            <a:off x="6286500" y="3750945"/>
            <a:ext cx="5353200" cy="2238300"/>
            <a:chOff x="0" y="0"/>
            <a:chExt cx="5353200" cy="2238300"/>
          </a:xfrm>
        </p:grpSpPr>
        <p:sp>
          <p:nvSpPr>
            <p:cNvPr id="376" name="Google Shape;376;p16"/>
            <p:cNvSpPr/>
            <p:nvPr/>
          </p:nvSpPr>
          <p:spPr>
            <a:xfrm>
              <a:off x="0" y="0"/>
              <a:ext cx="5353200" cy="2238300"/>
            </a:xfrm>
            <a:prstGeom prst="roundRect">
              <a:avLst>
                <a:gd fmla="val 5106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6"/>
            <p:cNvSpPr txBox="1"/>
            <p:nvPr/>
          </p:nvSpPr>
          <p:spPr>
            <a:xfrm>
              <a:off x="228600" y="190500"/>
              <a:ext cx="4896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Mappage ORM &amp; Architecture</a:t>
              </a:r>
              <a:endParaRPr b="1" sz="15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EF1F4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Entités TypeORM :</a:t>
              </a:r>
              <a:r>
                <a:rPr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Correspondance objet/base 1:1 pour une gestion fluide des données</a:t>
              </a:r>
              <a:endParaRPr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EF1F4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Énumérations typées :</a:t>
              </a:r>
              <a:r>
                <a:rPr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Sécurisation des rôles et des statuts (UserRoles, PromptStatus, PurchaseStatus)</a:t>
              </a:r>
              <a:endParaRPr sz="11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9AA3AE"/>
                </a:solidFill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MERISE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Diagramme de Classes UML</a:t>
            </a:r>
            <a:endParaRPr b="1" i="0" sz="3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548640" y="1417320"/>
            <a:ext cx="6096000" cy="4667400"/>
          </a:xfrm>
          <a:prstGeom prst="roundRect">
            <a:avLst>
              <a:gd fmla="val 2448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17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1493520" y="1560195"/>
            <a:ext cx="4206300" cy="438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17"/>
          <p:cNvGrpSpPr/>
          <p:nvPr/>
        </p:nvGrpSpPr>
        <p:grpSpPr>
          <a:xfrm>
            <a:off x="6873240" y="1417320"/>
            <a:ext cx="4770000" cy="2190900"/>
            <a:chOff x="0" y="0"/>
            <a:chExt cx="4770000" cy="2190900"/>
          </a:xfrm>
        </p:grpSpPr>
        <p:sp>
          <p:nvSpPr>
            <p:cNvPr id="390" name="Google Shape;390;p17"/>
            <p:cNvSpPr/>
            <p:nvPr/>
          </p:nvSpPr>
          <p:spPr>
            <a:xfrm>
              <a:off x="0" y="0"/>
              <a:ext cx="4770000" cy="2190900"/>
            </a:xfrm>
            <a:prstGeom prst="roundRect">
              <a:avLst>
                <a:gd fmla="val 5217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 txBox="1"/>
            <p:nvPr/>
          </p:nvSpPr>
          <p:spPr>
            <a:xfrm>
              <a:off x="228600" y="190500"/>
              <a:ext cx="43128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Structure &amp; Entités Clés</a:t>
              </a:r>
              <a:endParaRPr b="1" i="0" sz="15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77FF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Core Business :</a:t>
              </a:r>
              <a:r>
                <a:rPr b="1" i="0" lang="en-US" sz="15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Prompts, Categories, AITool, PreviewImages</a:t>
              </a:r>
              <a:endParaRPr b="1" i="0" sz="15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77FF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Gestion Utilisateurs :</a:t>
              </a:r>
              <a:r>
                <a:rPr b="1" i="0" lang="en-US" sz="15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User, UserProfile, SocialLink</a:t>
              </a:r>
              <a:endParaRPr b="1" i="0" sz="15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77FF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Transactions :</a:t>
              </a:r>
              <a:r>
                <a:rPr b="1" i="0" lang="en-US" sz="15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Purchase avec suivi de paiement Stripe</a:t>
              </a:r>
              <a:endParaRPr b="1" i="0" sz="15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17"/>
          <p:cNvGrpSpPr/>
          <p:nvPr/>
        </p:nvGrpSpPr>
        <p:grpSpPr>
          <a:xfrm>
            <a:off x="6873240" y="3893820"/>
            <a:ext cx="4770000" cy="2190900"/>
            <a:chOff x="0" y="0"/>
            <a:chExt cx="4770000" cy="2190900"/>
          </a:xfrm>
        </p:grpSpPr>
        <p:sp>
          <p:nvSpPr>
            <p:cNvPr id="393" name="Google Shape;393;p17"/>
            <p:cNvSpPr/>
            <p:nvPr/>
          </p:nvSpPr>
          <p:spPr>
            <a:xfrm>
              <a:off x="0" y="0"/>
              <a:ext cx="4770000" cy="2190900"/>
            </a:xfrm>
            <a:prstGeom prst="roundRect">
              <a:avLst>
                <a:gd fmla="val 5217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 txBox="1"/>
            <p:nvPr/>
          </p:nvSpPr>
          <p:spPr>
            <a:xfrm>
              <a:off x="228600" y="190500"/>
              <a:ext cx="43128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Relations &amp; Typage Métier</a:t>
              </a:r>
              <a:endParaRPr b="1" i="0" sz="15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BFA5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Découplage :</a:t>
              </a:r>
              <a:r>
                <a:rPr b="1" i="0" lang="en-US" sz="15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Séparations nettes entre compte et données de profil</a:t>
              </a:r>
              <a:endParaRPr b="1" i="0" sz="15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BFA5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Sécurisation par Enums :</a:t>
              </a:r>
              <a:r>
                <a:rPr b="1" i="0" lang="en-US" sz="15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UserRoles, PurchaseStatus, PromptStatus</a:t>
              </a:r>
              <a:endParaRPr b="1" i="0" sz="15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BFA5"/>
                </a:buClr>
                <a:buSzPts val="1500"/>
                <a:buFont typeface="Arial"/>
                <a:buChar char="●"/>
              </a:pPr>
              <a:r>
                <a:rPr b="1" i="0" lang="en-US" sz="1100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Cycle de Vie :</a:t>
              </a:r>
              <a:r>
                <a:rPr b="1" i="0" lang="en-US" sz="1500">
                  <a:solidFill>
                    <a:srgbClr val="00BF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Soft delete via </a:t>
              </a:r>
              <a:r>
                <a:rPr b="0" i="0" lang="en-US" sz="1100">
                  <a:solidFill>
                    <a:srgbClr val="00BFA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deletedAt</a:t>
              </a:r>
              <a:r>
                <a:rPr b="0" i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 sur les entités critiques</a:t>
              </a:r>
              <a:endParaRPr b="1" i="0" sz="1500">
                <a:solidFill>
                  <a:srgbClr val="00BF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UX/UI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Charte Graphique &amp; Palette Accessibilité</a:t>
            </a:r>
            <a:endParaRPr b="1" sz="3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8"/>
          <p:cNvPicPr preferRelativeResize="0"/>
          <p:nvPr/>
        </p:nvPicPr>
        <p:blipFill rotWithShape="1">
          <a:blip r:embed="rId3">
            <a:alphaModFix/>
          </a:blip>
          <a:srcRect b="10898" l="0" r="0" t="142"/>
          <a:stretch/>
        </p:blipFill>
        <p:spPr>
          <a:xfrm>
            <a:off x="6667500" y="1428750"/>
            <a:ext cx="4972200" cy="2286000"/>
          </a:xfrm>
          <a:prstGeom prst="roundRect">
            <a:avLst>
              <a:gd fmla="val 4166" name="adj"/>
            </a:avLst>
          </a:prstGeom>
          <a:noFill/>
          <a:ln>
            <a:noFill/>
          </a:ln>
        </p:spPr>
      </p:pic>
      <p:pic>
        <p:nvPicPr>
          <p:cNvPr id="405" name="Google Shape;405;p18"/>
          <p:cNvPicPr preferRelativeResize="0"/>
          <p:nvPr/>
        </p:nvPicPr>
        <p:blipFill rotWithShape="1">
          <a:blip r:embed="rId4">
            <a:alphaModFix/>
          </a:blip>
          <a:srcRect b="38365" l="0" r="0" t="38420"/>
          <a:stretch/>
        </p:blipFill>
        <p:spPr>
          <a:xfrm>
            <a:off x="6667500" y="3905250"/>
            <a:ext cx="4972200" cy="2190900"/>
          </a:xfrm>
          <a:prstGeom prst="roundRect">
            <a:avLst>
              <a:gd fmla="val 4347" name="adj"/>
            </a:avLst>
          </a:prstGeom>
          <a:noFill/>
          <a:ln>
            <a:noFill/>
          </a:ln>
        </p:spPr>
      </p:pic>
      <p:grpSp>
        <p:nvGrpSpPr>
          <p:cNvPr id="406" name="Google Shape;406;p18"/>
          <p:cNvGrpSpPr/>
          <p:nvPr/>
        </p:nvGrpSpPr>
        <p:grpSpPr>
          <a:xfrm>
            <a:off x="548640" y="1355475"/>
            <a:ext cx="5886600" cy="4667400"/>
            <a:chOff x="0" y="0"/>
            <a:chExt cx="5886600" cy="4667400"/>
          </a:xfrm>
        </p:grpSpPr>
        <p:sp>
          <p:nvSpPr>
            <p:cNvPr id="407" name="Google Shape;407;p18"/>
            <p:cNvSpPr/>
            <p:nvPr/>
          </p:nvSpPr>
          <p:spPr>
            <a:xfrm>
              <a:off x="0" y="0"/>
              <a:ext cx="5886600" cy="4667400"/>
            </a:xfrm>
            <a:prstGeom prst="roundRect">
              <a:avLst>
                <a:gd fmla="val 2857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8"/>
            <p:cNvSpPr txBox="1"/>
            <p:nvPr/>
          </p:nvSpPr>
          <p:spPr>
            <a:xfrm>
              <a:off x="266700" y="228600"/>
              <a:ext cx="53532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strike="noStrike">
                  <a:solidFill>
                    <a:srgbClr val="EEF1F4"/>
                  </a:solidFill>
                  <a:latin typeface="Arial"/>
                  <a:ea typeface="Arial"/>
                  <a:cs typeface="Arial"/>
                  <a:sym typeface="Arial"/>
                </a:rPr>
                <a:t>Palette de Couleurs UI d'un Thème DaisyUI</a:t>
              </a:r>
              <a:endParaRPr b="1" i="0" sz="16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9" name="Google Shape;409;p18"/>
            <p:cNvGrpSpPr/>
            <p:nvPr/>
          </p:nvGrpSpPr>
          <p:grpSpPr>
            <a:xfrm>
              <a:off x="228600" y="723900"/>
              <a:ext cx="5353200" cy="3524400"/>
              <a:chOff x="0" y="0"/>
              <a:chExt cx="5353200" cy="3524400"/>
            </a:xfrm>
          </p:grpSpPr>
          <p:grpSp>
            <p:nvGrpSpPr>
              <p:cNvPr id="410" name="Google Shape;410;p18"/>
              <p:cNvGrpSpPr/>
              <p:nvPr/>
            </p:nvGrpSpPr>
            <p:grpSpPr>
              <a:xfrm>
                <a:off x="0" y="0"/>
                <a:ext cx="1238400" cy="3524400"/>
                <a:chOff x="0" y="0"/>
                <a:chExt cx="1238400" cy="3524400"/>
              </a:xfrm>
            </p:grpSpPr>
            <p:sp>
              <p:nvSpPr>
                <p:cNvPr id="411" name="Google Shape;411;p18"/>
                <p:cNvSpPr/>
                <p:nvPr/>
              </p:nvSpPr>
              <p:spPr>
                <a:xfrm>
                  <a:off x="0" y="0"/>
                  <a:ext cx="1238400" cy="3524400"/>
                </a:xfrm>
                <a:prstGeom prst="roundRect">
                  <a:avLst>
                    <a:gd fmla="val 7692" name="adj"/>
                  </a:avLst>
                </a:prstGeom>
                <a:solidFill>
                  <a:srgbClr val="1E2631"/>
                </a:solidFill>
                <a:ln cap="flat" cmpd="sng" w="9525">
                  <a:solidFill>
                    <a:srgbClr val="2E384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" name="Google Shape;412;p18"/>
                <p:cNvSpPr/>
                <p:nvPr/>
              </p:nvSpPr>
              <p:spPr>
                <a:xfrm>
                  <a:off x="76200" y="76200"/>
                  <a:ext cx="1086000" cy="1714500"/>
                </a:xfrm>
                <a:prstGeom prst="roundRect">
                  <a:avLst>
                    <a:gd fmla="val 7017" name="adj"/>
                  </a:avLst>
                </a:prstGeom>
                <a:solidFill>
                  <a:srgbClr val="0E1217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" name="Google Shape;413;p18"/>
                <p:cNvSpPr txBox="1"/>
                <p:nvPr/>
              </p:nvSpPr>
              <p:spPr>
                <a:xfrm>
                  <a:off x="114300" y="1905000"/>
                  <a:ext cx="1009800" cy="14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EEF1F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#0E1217</a:t>
                  </a:r>
                  <a:endParaRPr b="1" sz="11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9AA3A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Fond Sombre</a:t>
                  </a:r>
                  <a:endParaRPr sz="9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Ratio 17.5:1</a:t>
                  </a:r>
                  <a:b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(AAA)</a:t>
                  </a:r>
                  <a:endParaRPr b="1" sz="800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4" name="Google Shape;414;p18"/>
              <p:cNvGrpSpPr/>
              <p:nvPr/>
            </p:nvGrpSpPr>
            <p:grpSpPr>
              <a:xfrm>
                <a:off x="1371600" y="0"/>
                <a:ext cx="1238400" cy="3524400"/>
                <a:chOff x="0" y="0"/>
                <a:chExt cx="1238400" cy="3524400"/>
              </a:xfrm>
            </p:grpSpPr>
            <p:sp>
              <p:nvSpPr>
                <p:cNvPr id="415" name="Google Shape;415;p18"/>
                <p:cNvSpPr/>
                <p:nvPr/>
              </p:nvSpPr>
              <p:spPr>
                <a:xfrm>
                  <a:off x="0" y="0"/>
                  <a:ext cx="1238400" cy="3524400"/>
                </a:xfrm>
                <a:prstGeom prst="roundRect">
                  <a:avLst>
                    <a:gd fmla="val 7692" name="adj"/>
                  </a:avLst>
                </a:prstGeom>
                <a:solidFill>
                  <a:srgbClr val="1E2631"/>
                </a:solidFill>
                <a:ln cap="flat" cmpd="sng" w="9525">
                  <a:solidFill>
                    <a:srgbClr val="2E384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18"/>
                <p:cNvSpPr/>
                <p:nvPr/>
              </p:nvSpPr>
              <p:spPr>
                <a:xfrm>
                  <a:off x="76200" y="76200"/>
                  <a:ext cx="1086000" cy="1714500"/>
                </a:xfrm>
                <a:prstGeom prst="roundRect">
                  <a:avLst>
                    <a:gd fmla="val 7017" name="adj"/>
                  </a:avLst>
                </a:prstGeom>
                <a:solidFill>
                  <a:srgbClr val="1E2631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18"/>
                <p:cNvSpPr txBox="1"/>
                <p:nvPr/>
              </p:nvSpPr>
              <p:spPr>
                <a:xfrm>
                  <a:off x="114300" y="1905000"/>
                  <a:ext cx="1009800" cy="14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EEF1F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#1E2631</a:t>
                  </a:r>
                  <a:endParaRPr b="1" sz="11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9AA3A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Surface / Cartes</a:t>
                  </a:r>
                  <a:endParaRPr sz="9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Ratio 11.2:1</a:t>
                  </a:r>
                  <a:b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(AAA)</a:t>
                  </a:r>
                  <a:endParaRPr b="1" sz="800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8" name="Google Shape;418;p18"/>
              <p:cNvGrpSpPr/>
              <p:nvPr/>
            </p:nvGrpSpPr>
            <p:grpSpPr>
              <a:xfrm>
                <a:off x="4114800" y="0"/>
                <a:ext cx="1238400" cy="3524400"/>
                <a:chOff x="0" y="0"/>
                <a:chExt cx="1238400" cy="3524400"/>
              </a:xfrm>
            </p:grpSpPr>
            <p:sp>
              <p:nvSpPr>
                <p:cNvPr id="419" name="Google Shape;419;p18"/>
                <p:cNvSpPr/>
                <p:nvPr/>
              </p:nvSpPr>
              <p:spPr>
                <a:xfrm>
                  <a:off x="0" y="0"/>
                  <a:ext cx="1238400" cy="3524400"/>
                </a:xfrm>
                <a:prstGeom prst="roundRect">
                  <a:avLst>
                    <a:gd fmla="val 7692" name="adj"/>
                  </a:avLst>
                </a:prstGeom>
                <a:solidFill>
                  <a:srgbClr val="1E2631"/>
                </a:solidFill>
                <a:ln cap="flat" cmpd="sng" w="9525">
                  <a:solidFill>
                    <a:srgbClr val="2E384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18"/>
                <p:cNvSpPr/>
                <p:nvPr/>
              </p:nvSpPr>
              <p:spPr>
                <a:xfrm>
                  <a:off x="76200" y="76200"/>
                  <a:ext cx="1086000" cy="1714500"/>
                </a:xfrm>
                <a:prstGeom prst="roundRect">
                  <a:avLst>
                    <a:gd fmla="val 7017" name="adj"/>
                  </a:avLst>
                </a:prstGeom>
                <a:solidFill>
                  <a:srgbClr val="6366F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18"/>
                <p:cNvSpPr txBox="1"/>
                <p:nvPr/>
              </p:nvSpPr>
              <p:spPr>
                <a:xfrm>
                  <a:off x="114300" y="1905000"/>
                  <a:ext cx="1009800" cy="14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EEF1F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#6366F1</a:t>
                  </a:r>
                  <a:endParaRPr b="1" sz="11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9AA3A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Accent Violet</a:t>
                  </a:r>
                  <a:endParaRPr sz="9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Ratio 4.6:1</a:t>
                  </a:r>
                  <a:b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(AA)</a:t>
                  </a:r>
                  <a:endParaRPr b="1" sz="800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" name="Google Shape;422;p18"/>
              <p:cNvGrpSpPr/>
              <p:nvPr/>
            </p:nvGrpSpPr>
            <p:grpSpPr>
              <a:xfrm>
                <a:off x="2743200" y="0"/>
                <a:ext cx="1238400" cy="3524400"/>
                <a:chOff x="0" y="0"/>
                <a:chExt cx="1238400" cy="3524400"/>
              </a:xfrm>
            </p:grpSpPr>
            <p:sp>
              <p:nvSpPr>
                <p:cNvPr id="423" name="Google Shape;423;p18"/>
                <p:cNvSpPr/>
                <p:nvPr/>
              </p:nvSpPr>
              <p:spPr>
                <a:xfrm>
                  <a:off x="0" y="0"/>
                  <a:ext cx="1238400" cy="3524400"/>
                </a:xfrm>
                <a:prstGeom prst="roundRect">
                  <a:avLst>
                    <a:gd fmla="val 7692" name="adj"/>
                  </a:avLst>
                </a:prstGeom>
                <a:solidFill>
                  <a:srgbClr val="1E2631"/>
                </a:solidFill>
                <a:ln cap="flat" cmpd="sng" w="9525">
                  <a:solidFill>
                    <a:srgbClr val="2E384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18"/>
                <p:cNvSpPr/>
                <p:nvPr/>
              </p:nvSpPr>
              <p:spPr>
                <a:xfrm>
                  <a:off x="76200" y="76200"/>
                  <a:ext cx="1086000" cy="1714500"/>
                </a:xfrm>
                <a:prstGeom prst="roundRect">
                  <a:avLst>
                    <a:gd fmla="val 7017" name="adj"/>
                  </a:avLst>
                </a:prstGeom>
                <a:solidFill>
                  <a:srgbClr val="0077FF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18"/>
                <p:cNvSpPr txBox="1"/>
                <p:nvPr/>
              </p:nvSpPr>
              <p:spPr>
                <a:xfrm>
                  <a:off x="114300" y="1905000"/>
                  <a:ext cx="1009800" cy="14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EEF1F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#0077FF</a:t>
                  </a:r>
                  <a:endParaRPr b="1" sz="1100">
                    <a:solidFill>
                      <a:srgbClr val="EEF1F4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9AA3A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Action / Primaire</a:t>
                  </a:r>
                  <a:endParaRPr sz="900">
                    <a:solidFill>
                      <a:srgbClr val="9AA3A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Ratio 4.8:1</a:t>
                  </a:r>
                  <a:b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b="1" lang="en-US" sz="800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(AA)</a:t>
                  </a:r>
                  <a:endParaRPr b="1" sz="800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E"/>
                </a:solidFill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UX/UI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548640" y="571500"/>
            <a:ext cx="5524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Maquette Interface UI/UX</a:t>
            </a:r>
            <a:endParaRPr b="1" sz="3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9" title="Capture d'écran 2026-09-23 1328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575" y="1078775"/>
            <a:ext cx="8804125" cy="564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CONCEPTION · UX/UI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548640" y="571500"/>
            <a:ext cx="762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Open Spec &amp; Context IA</a:t>
            </a:r>
            <a:endParaRPr b="1" i="0" sz="3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20"/>
          <p:cNvGrpSpPr/>
          <p:nvPr/>
        </p:nvGrpSpPr>
        <p:grpSpPr>
          <a:xfrm>
            <a:off x="548640" y="1352550"/>
            <a:ext cx="3467100" cy="4762500"/>
            <a:chOff x="0" y="0"/>
            <a:chExt cx="3467100" cy="4762500"/>
          </a:xfrm>
        </p:grpSpPr>
        <p:sp>
          <p:nvSpPr>
            <p:cNvPr id="446" name="Google Shape;446;p20"/>
            <p:cNvSpPr/>
            <p:nvPr/>
          </p:nvSpPr>
          <p:spPr>
            <a:xfrm>
              <a:off x="0" y="0"/>
              <a:ext cx="3467100" cy="4762500"/>
            </a:xfrm>
            <a:prstGeom prst="roundRect">
              <a:avLst>
                <a:gd fmla="val 3296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0" y="0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0077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0"/>
            <p:cNvSpPr txBox="1"/>
            <p:nvPr/>
          </p:nvSpPr>
          <p:spPr>
            <a:xfrm>
              <a:off x="190500" y="190500"/>
              <a:ext cx="3086100" cy="438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77FF"/>
                  </a:solidFill>
                  <a:latin typeface="Arial"/>
                  <a:ea typeface="Arial"/>
                  <a:cs typeface="Arial"/>
                  <a:sym typeface="Arial"/>
                </a:rPr>
                <a:t>1. Définition</a:t>
              </a:r>
              <a:endParaRPr b="1" sz="16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" name="Google Shape;449;p20"/>
          <p:cNvGrpSpPr/>
          <p:nvPr/>
        </p:nvGrpSpPr>
        <p:grpSpPr>
          <a:xfrm>
            <a:off x="4206240" y="1352550"/>
            <a:ext cx="3619500" cy="4762500"/>
            <a:chOff x="0" y="0"/>
            <a:chExt cx="3619500" cy="4762500"/>
          </a:xfrm>
        </p:grpSpPr>
        <p:sp>
          <p:nvSpPr>
            <p:cNvPr id="450" name="Google Shape;450;p20"/>
            <p:cNvSpPr/>
            <p:nvPr/>
          </p:nvSpPr>
          <p:spPr>
            <a:xfrm>
              <a:off x="0" y="0"/>
              <a:ext cx="3619500" cy="4762500"/>
            </a:xfrm>
            <a:prstGeom prst="roundRect">
              <a:avLst>
                <a:gd fmla="val 3157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0" y="0"/>
              <a:ext cx="3619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0"/>
            <p:cNvSpPr txBox="1"/>
            <p:nvPr/>
          </p:nvSpPr>
          <p:spPr>
            <a:xfrm>
              <a:off x="190500" y="190500"/>
              <a:ext cx="3238500" cy="438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6366F1"/>
                  </a:solidFill>
                  <a:latin typeface="Arial"/>
                  <a:ea typeface="Arial"/>
                  <a:cs typeface="Arial"/>
                  <a:sym typeface="Arial"/>
                </a:rPr>
                <a:t>2. Comment ça marche ?</a:t>
              </a:r>
              <a:endParaRPr b="1" sz="1600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300"/>
                </a:spcAft>
                <a:buNone/>
              </a:pPr>
              <a:r>
                <a:t/>
              </a:r>
              <a:endParaRPr b="0" sz="9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20"/>
          <p:cNvGrpSpPr/>
          <p:nvPr/>
        </p:nvGrpSpPr>
        <p:grpSpPr>
          <a:xfrm>
            <a:off x="8016240" y="1352550"/>
            <a:ext cx="3619500" cy="4762500"/>
            <a:chOff x="0" y="0"/>
            <a:chExt cx="3619500" cy="4762500"/>
          </a:xfrm>
        </p:grpSpPr>
        <p:sp>
          <p:nvSpPr>
            <p:cNvPr id="454" name="Google Shape;454;p20"/>
            <p:cNvSpPr/>
            <p:nvPr/>
          </p:nvSpPr>
          <p:spPr>
            <a:xfrm>
              <a:off x="0" y="0"/>
              <a:ext cx="3619500" cy="4762500"/>
            </a:xfrm>
            <a:prstGeom prst="roundRect">
              <a:avLst>
                <a:gd fmla="val 3157" name="adj"/>
              </a:avLst>
            </a:prstGeom>
            <a:solidFill>
              <a:srgbClr val="141A22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0" y="0"/>
              <a:ext cx="3619500" cy="573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 txBox="1"/>
            <p:nvPr/>
          </p:nvSpPr>
          <p:spPr>
            <a:xfrm>
              <a:off x="190500" y="190500"/>
              <a:ext cx="3238500" cy="438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3. Rôle dans la Conception</a:t>
              </a:r>
              <a:endParaRPr b="1" sz="16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300"/>
                </a:spcAft>
                <a:buNone/>
              </a:pPr>
              <a:r>
                <a:t/>
              </a:r>
              <a:endParaRPr b="0" sz="95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822960" y="1920240"/>
            <a:ext cx="2743200" cy="118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7400" u="none" strike="noStrike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82296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Architecture et back-end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API REST NestJS organisée en couches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8503920" y="1737360"/>
            <a:ext cx="2926200" cy="2926200"/>
          </a:xfrm>
          <a:prstGeom prst="ellipse">
            <a:avLst/>
          </a:prstGeom>
          <a:solidFill>
            <a:srgbClr val="1A2029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21"/>
          <p:cNvGrpSpPr/>
          <p:nvPr/>
        </p:nvGrpSpPr>
        <p:grpSpPr>
          <a:xfrm>
            <a:off x="9376410" y="2609850"/>
            <a:ext cx="1181100" cy="1181100"/>
            <a:chOff x="95250" y="95250"/>
            <a:chExt cx="1181100" cy="1181100"/>
          </a:xfrm>
        </p:grpSpPr>
        <p:sp>
          <p:nvSpPr>
            <p:cNvPr id="469" name="Google Shape;469;p21"/>
            <p:cNvSpPr/>
            <p:nvPr/>
          </p:nvSpPr>
          <p:spPr>
            <a:xfrm>
              <a:off x="95250" y="9525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919163" y="1952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1071563" y="1952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95250" y="53340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919163" y="63341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1071563" y="63341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95250" y="97155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919163" y="10715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1071563" y="10715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Architecture de l’application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48640" y="1463040"/>
            <a:ext cx="11109960" cy="393192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1000/-home-abduljaber-formation-cda-projet-final-promptVerse/5eba1b07-3930-4f30-903f-f5f37cb75edb/scratchpad/diapo/assets/archi.png" id="488" name="Google Shape;4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566" y="1645920"/>
            <a:ext cx="10690109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2"/>
          <p:cNvSpPr txBox="1"/>
          <p:nvPr/>
        </p:nvSpPr>
        <p:spPr>
          <a:xfrm>
            <a:off x="548640" y="56235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Découplée : </a:t>
            </a: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le front ne parle qu’à l’API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4297680" y="56235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Un seul point d’entrée : </a:t>
            </a: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Nginx en HTTPS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8046720" y="56235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Sécurité centralisée : </a:t>
            </a: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toutes les règles côté serveur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1" i="0" sz="1100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Circulation d’une requête dans l’API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548640" y="2095500"/>
            <a:ext cx="1981200" cy="2952900"/>
          </a:xfrm>
          <a:prstGeom prst="roundRect">
            <a:avLst>
              <a:gd fmla="val 576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/>
          <p:nvPr/>
        </p:nvSpPr>
        <p:spPr>
          <a:xfrm>
            <a:off x="1158240" y="2362200"/>
            <a:ext cx="762000" cy="762000"/>
          </a:xfrm>
          <a:prstGeom prst="roundRect">
            <a:avLst>
              <a:gd fmla="val 225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64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3"/>
          <p:cNvSpPr txBox="1"/>
          <p:nvPr/>
        </p:nvSpPr>
        <p:spPr>
          <a:xfrm>
            <a:off x="624840" y="3314700"/>
            <a:ext cx="1828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Contrôleur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624840" y="3790950"/>
            <a:ext cx="18288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Route HTTP, guards, délègue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3"/>
          <p:cNvSpPr/>
          <p:nvPr/>
        </p:nvSpPr>
        <p:spPr>
          <a:xfrm>
            <a:off x="2564125" y="3457575"/>
            <a:ext cx="2379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2827020" y="2095500"/>
            <a:ext cx="1981200" cy="2952900"/>
          </a:xfrm>
          <a:prstGeom prst="roundRect">
            <a:avLst>
              <a:gd fmla="val 576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3436620" y="2362200"/>
            <a:ext cx="762000" cy="762000"/>
          </a:xfrm>
          <a:prstGeom prst="roundRect">
            <a:avLst>
              <a:gd fmla="val 225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9" name="Google Shape;5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02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3"/>
          <p:cNvSpPr txBox="1"/>
          <p:nvPr/>
        </p:nvSpPr>
        <p:spPr>
          <a:xfrm>
            <a:off x="2903220" y="3314700"/>
            <a:ext cx="1828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DTO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2903220" y="3790950"/>
            <a:ext cx="18288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Valide les données entrantes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4842500" y="3457575"/>
            <a:ext cx="2376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5105400" y="2095500"/>
            <a:ext cx="1981200" cy="2952900"/>
          </a:xfrm>
          <a:prstGeom prst="roundRect">
            <a:avLst>
              <a:gd fmla="val 576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5715000" y="2362200"/>
            <a:ext cx="762000" cy="762000"/>
          </a:xfrm>
          <a:prstGeom prst="roundRect">
            <a:avLst>
              <a:gd fmla="val 2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3"/>
          <p:cNvSpPr txBox="1"/>
          <p:nvPr/>
        </p:nvSpPr>
        <p:spPr>
          <a:xfrm>
            <a:off x="5181600" y="3314700"/>
            <a:ext cx="1828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5181600" y="3790950"/>
            <a:ext cx="18288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Règles métier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120900" y="3457575"/>
            <a:ext cx="2376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7383780" y="2095500"/>
            <a:ext cx="1981200" cy="2952900"/>
          </a:xfrm>
          <a:prstGeom prst="roundRect">
            <a:avLst>
              <a:gd fmla="val 576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7993380" y="2362200"/>
            <a:ext cx="762000" cy="762000"/>
          </a:xfrm>
          <a:prstGeom prst="roundRect">
            <a:avLst>
              <a:gd fmla="val 225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1" name="Google Shape;5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578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3"/>
          <p:cNvSpPr txBox="1"/>
          <p:nvPr/>
        </p:nvSpPr>
        <p:spPr>
          <a:xfrm>
            <a:off x="7459980" y="3314700"/>
            <a:ext cx="1828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7459980" y="3790950"/>
            <a:ext cx="18288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TypeORM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9399275" y="3457575"/>
            <a:ext cx="2376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9662160" y="2095500"/>
            <a:ext cx="1981200" cy="2952900"/>
          </a:xfrm>
          <a:prstGeom prst="roundRect">
            <a:avLst>
              <a:gd fmla="val 576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10271760" y="2362200"/>
            <a:ext cx="762000" cy="762000"/>
          </a:xfrm>
          <a:prstGeom prst="roundRect">
            <a:avLst>
              <a:gd fmla="val 22500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416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 txBox="1"/>
          <p:nvPr/>
        </p:nvSpPr>
        <p:spPr>
          <a:xfrm>
            <a:off x="9738360" y="3314700"/>
            <a:ext cx="1828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1" sz="18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9738360" y="3790950"/>
            <a:ext cx="18288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Données persistées</a:t>
            </a:r>
            <a:endParaRPr b="0" sz="13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4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BACK-END · SÉCURITÉ</a:t>
            </a:r>
            <a:endParaRPr b="1" i="0" sz="1100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4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Authentification : JWT en cookie httpOnly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548640" y="1463040"/>
            <a:ext cx="7223700" cy="4755000"/>
          </a:xfrm>
          <a:prstGeom prst="roundRect">
            <a:avLst>
              <a:gd fmla="val 1923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777240" y="1591056"/>
            <a:ext cx="676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auth.controller.ts (extrait simplifié)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 txBox="1"/>
          <p:nvPr/>
        </p:nvSpPr>
        <p:spPr>
          <a:xfrm>
            <a:off x="777240" y="1901952"/>
            <a:ext cx="67665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@Post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'login'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@Throttle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{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limit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ttl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medium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{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limit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ttl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60000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blockDuration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900000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@Public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loginDto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LoginDto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@Res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passthrough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b="0" i="0"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accessToken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b="0" i="0" lang="en-US"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authService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(loginDto);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res.</a:t>
            </a:r>
            <a:r>
              <a:rPr b="0" i="0" lang="en-US"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cookie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'access_token'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accessToken, {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httpOnly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             </a:t>
            </a:r>
            <a:r>
              <a:rPr b="0" i="0" lang="en-US" sz="1200">
                <a:solidFill>
                  <a:srgbClr val="7F848E"/>
                </a:solidFill>
                <a:latin typeface="Courier New"/>
                <a:ea typeface="Courier New"/>
                <a:cs typeface="Courier New"/>
                <a:sym typeface="Courier New"/>
              </a:rPr>
              <a:t>// illisible en JS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secure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isProduction,       </a:t>
            </a:r>
            <a:r>
              <a:rPr b="0" i="0" lang="en-US" sz="1200">
                <a:solidFill>
                  <a:srgbClr val="7F848E"/>
                </a:solidFill>
                <a:latin typeface="Courier New"/>
                <a:ea typeface="Courier New"/>
                <a:cs typeface="Courier New"/>
                <a:sym typeface="Courier New"/>
              </a:rPr>
              <a:t>// HTTPS uniquement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sameSite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'lax'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maxAge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2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>
                <a:solidFill>
                  <a:srgbClr val="7F848E"/>
                </a:solidFill>
                <a:latin typeface="Courier New"/>
                <a:ea typeface="Courier New"/>
                <a:cs typeface="Courier New"/>
                <a:sym typeface="Courier New"/>
              </a:rPr>
              <a:t>// 24 h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});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b="0" i="0" lang="en-US"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'Login successful'</a:t>
            </a: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42" name="Google Shape;542;p24"/>
          <p:cNvGrpSpPr/>
          <p:nvPr/>
        </p:nvGrpSpPr>
        <p:grpSpPr>
          <a:xfrm>
            <a:off x="7955280" y="1463040"/>
            <a:ext cx="3686100" cy="819300"/>
            <a:chOff x="0" y="0"/>
            <a:chExt cx="3686100" cy="819300"/>
          </a:xfrm>
        </p:grpSpPr>
        <p:sp>
          <p:nvSpPr>
            <p:cNvPr id="543" name="Google Shape;543;p24"/>
            <p:cNvSpPr/>
            <p:nvPr/>
          </p:nvSpPr>
          <p:spPr>
            <a:xfrm>
              <a:off x="0" y="0"/>
              <a:ext cx="3686100" cy="819300"/>
            </a:xfrm>
            <a:prstGeom prst="roundRect">
              <a:avLst>
                <a:gd fmla="val 11627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0" y="0"/>
              <a:ext cx="47700" cy="819300"/>
            </a:xfrm>
            <a:prstGeom prst="roundRect">
              <a:avLst>
                <a:gd fmla="val 4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190500" y="0"/>
              <a:ext cx="3352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bcrypt</a:t>
              </a:r>
              <a:endParaRPr b="1" sz="14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coût 10, mot de passe jamais renvoyé</a:t>
              </a:r>
              <a:endParaRPr b="0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24"/>
          <p:cNvGrpSpPr/>
          <p:nvPr/>
        </p:nvGrpSpPr>
        <p:grpSpPr>
          <a:xfrm>
            <a:off x="7955280" y="2425065"/>
            <a:ext cx="3686100" cy="819300"/>
            <a:chOff x="0" y="0"/>
            <a:chExt cx="3686100" cy="819300"/>
          </a:xfrm>
        </p:grpSpPr>
        <p:sp>
          <p:nvSpPr>
            <p:cNvPr id="547" name="Google Shape;547;p24"/>
            <p:cNvSpPr/>
            <p:nvPr/>
          </p:nvSpPr>
          <p:spPr>
            <a:xfrm>
              <a:off x="0" y="0"/>
              <a:ext cx="3686100" cy="819300"/>
            </a:xfrm>
            <a:prstGeom prst="roundRect">
              <a:avLst>
                <a:gd fmla="val 11627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0" y="0"/>
              <a:ext cx="47700" cy="819300"/>
            </a:xfrm>
            <a:prstGeom prst="roundRect">
              <a:avLst>
                <a:gd fmla="val 40000" name="adj"/>
              </a:avLst>
            </a:prstGeom>
            <a:solidFill>
              <a:srgbClr val="FB718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 txBox="1"/>
            <p:nvPr/>
          </p:nvSpPr>
          <p:spPr>
            <a:xfrm>
              <a:off x="190500" y="0"/>
              <a:ext cx="3352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B7185"/>
                  </a:solidFill>
                  <a:latin typeface="Arial"/>
                  <a:ea typeface="Arial"/>
                  <a:cs typeface="Arial"/>
                  <a:sym typeface="Arial"/>
                </a:rPr>
                <a:t>Email vérifié</a:t>
              </a:r>
              <a:endParaRPr b="1" sz="14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obligatoire pour se connecter</a:t>
              </a:r>
              <a:endParaRPr b="0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0" name="Google Shape;550;p24"/>
          <p:cNvGrpSpPr/>
          <p:nvPr/>
        </p:nvGrpSpPr>
        <p:grpSpPr>
          <a:xfrm>
            <a:off x="7955280" y="3387090"/>
            <a:ext cx="3686100" cy="819300"/>
            <a:chOff x="0" y="0"/>
            <a:chExt cx="3686100" cy="819300"/>
          </a:xfrm>
        </p:grpSpPr>
        <p:sp>
          <p:nvSpPr>
            <p:cNvPr id="551" name="Google Shape;551;p24"/>
            <p:cNvSpPr/>
            <p:nvPr/>
          </p:nvSpPr>
          <p:spPr>
            <a:xfrm>
              <a:off x="0" y="0"/>
              <a:ext cx="3686100" cy="819300"/>
            </a:xfrm>
            <a:prstGeom prst="roundRect">
              <a:avLst>
                <a:gd fmla="val 11627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0" y="0"/>
              <a:ext cx="47700" cy="819300"/>
            </a:xfrm>
            <a:prstGeom prst="roundRect">
              <a:avLst>
                <a:gd fmla="val 4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4"/>
            <p:cNvSpPr txBox="1"/>
            <p:nvPr/>
          </p:nvSpPr>
          <p:spPr>
            <a:xfrm>
              <a:off x="190500" y="0"/>
              <a:ext cx="3352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Cookie httpOnly</a:t>
              </a:r>
              <a:endParaRPr b="1" sz="1400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protège le jeton en cas de XSS</a:t>
              </a:r>
              <a:endParaRPr b="0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7955280" y="4349115"/>
            <a:ext cx="3686100" cy="819300"/>
            <a:chOff x="0" y="0"/>
            <a:chExt cx="3686100" cy="819300"/>
          </a:xfrm>
        </p:grpSpPr>
        <p:sp>
          <p:nvSpPr>
            <p:cNvPr id="555" name="Google Shape;555;p24"/>
            <p:cNvSpPr/>
            <p:nvPr/>
          </p:nvSpPr>
          <p:spPr>
            <a:xfrm>
              <a:off x="0" y="0"/>
              <a:ext cx="3686100" cy="819300"/>
            </a:xfrm>
            <a:prstGeom prst="roundRect">
              <a:avLst>
                <a:gd fmla="val 11627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0" y="0"/>
              <a:ext cx="47700" cy="819300"/>
            </a:xfrm>
            <a:prstGeom prst="roundRect">
              <a:avLst>
                <a:gd fmla="val 40000" name="adj"/>
              </a:avLst>
            </a:prstGeom>
            <a:solidFill>
              <a:srgbClr val="BE1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4"/>
            <p:cNvSpPr txBox="1"/>
            <p:nvPr/>
          </p:nvSpPr>
          <p:spPr>
            <a:xfrm>
              <a:off x="190500" y="0"/>
              <a:ext cx="3352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E123C"/>
                  </a:solidFill>
                  <a:latin typeface="Arial"/>
                  <a:ea typeface="Arial"/>
                  <a:cs typeface="Arial"/>
                  <a:sym typeface="Arial"/>
                </a:rPr>
                <a:t>Guard global</a:t>
              </a:r>
              <a:endParaRPr b="1" sz="1400">
                <a:solidFill>
                  <a:srgbClr val="BE12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toute route est privée sauf @Public()</a:t>
              </a:r>
              <a:endParaRPr b="0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24"/>
          <p:cNvGrpSpPr/>
          <p:nvPr/>
        </p:nvGrpSpPr>
        <p:grpSpPr>
          <a:xfrm>
            <a:off x="7955280" y="5311140"/>
            <a:ext cx="3686100" cy="819300"/>
            <a:chOff x="0" y="0"/>
            <a:chExt cx="3686100" cy="819300"/>
          </a:xfrm>
        </p:grpSpPr>
        <p:sp>
          <p:nvSpPr>
            <p:cNvPr id="559" name="Google Shape;559;p24"/>
            <p:cNvSpPr/>
            <p:nvPr/>
          </p:nvSpPr>
          <p:spPr>
            <a:xfrm>
              <a:off x="0" y="0"/>
              <a:ext cx="3686100" cy="819300"/>
            </a:xfrm>
            <a:prstGeom prst="roundRect">
              <a:avLst>
                <a:gd fmla="val 11627" name="adj"/>
              </a:avLst>
            </a:prstGeom>
            <a:solidFill>
              <a:srgbClr val="1A2029"/>
            </a:solidFill>
            <a:ln cap="flat" cmpd="sng" w="9525">
              <a:solidFill>
                <a:srgbClr val="2E38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0" y="0"/>
              <a:ext cx="47700" cy="819300"/>
            </a:xfrm>
            <a:prstGeom prst="roundRect">
              <a:avLst>
                <a:gd fmla="val 40000" name="adj"/>
              </a:avLst>
            </a:prstGeom>
            <a:solidFill>
              <a:srgbClr val="9F12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 txBox="1"/>
            <p:nvPr/>
          </p:nvSpPr>
          <p:spPr>
            <a:xfrm>
              <a:off x="190500" y="0"/>
              <a:ext cx="3352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F1239"/>
                  </a:solidFill>
                  <a:latin typeface="Arial"/>
                  <a:ea typeface="Arial"/>
                  <a:cs typeface="Arial"/>
                  <a:sym typeface="Arial"/>
                </a:rPr>
                <a:t>Throttling</a:t>
              </a:r>
              <a:endParaRPr b="1" sz="1400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3AE"/>
                  </a:solidFill>
                  <a:latin typeface="Arial"/>
                  <a:ea typeface="Arial"/>
                  <a:cs typeface="Arial"/>
                  <a:sym typeface="Arial"/>
                </a:rPr>
                <a:t>contre la force brute</a:t>
              </a:r>
              <a:endParaRPr b="0" sz="11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5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5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BACK-END · SÉCURITÉ</a:t>
            </a:r>
            <a:endParaRPr b="1" i="0" sz="1100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Entité Prompt (TypeORM)</a:t>
            </a:r>
            <a:endParaRPr b="1" i="0" sz="3200" u="none" strike="noStrike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548650" y="1463050"/>
            <a:ext cx="4640700" cy="4755000"/>
          </a:xfrm>
          <a:prstGeom prst="roundRect">
            <a:avLst>
              <a:gd fmla="val 1923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5"/>
          <p:cNvSpPr txBox="1"/>
          <p:nvPr/>
        </p:nvSpPr>
        <p:spPr>
          <a:xfrm>
            <a:off x="777246" y="1591046"/>
            <a:ext cx="41139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9AA3AE"/>
                </a:solidFill>
              </a:rPr>
              <a:t>prompt.entity.ts (Champs &amp; Attributs)</a:t>
            </a:r>
            <a:endParaRPr i="1" sz="1000">
              <a:solidFill>
                <a:srgbClr val="9AA3A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9AA3AE"/>
              </a:solidFill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777250" y="1901952"/>
            <a:ext cx="42399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'prompts'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export class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@PrimaryGeneratedColumn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'uuid'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slug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'text'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promptContent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'decimal'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'enum'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PromptStatus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PromptStatus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6430423" y="1591046"/>
            <a:ext cx="41139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prompt.entity.ts (Relations &amp; Audit)</a:t>
            </a:r>
            <a:endParaRPr b="0" i="1" sz="1000" u="none" strike="noStrike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6430423" y="1901952"/>
            <a:ext cx="42399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F848E"/>
                </a:solidFill>
                <a:latin typeface="Courier New"/>
                <a:ea typeface="Courier New"/>
                <a:cs typeface="Courier New"/>
                <a:sym typeface="Courier New"/>
              </a:rPr>
              <a:t>  // Relations TypeORM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prompts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'sellerId'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seller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Category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'categoryId'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category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Category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AiTool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'aiToolId'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})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aiTool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AiTool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@OneToMany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PreviewImage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previewImages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PreviewImage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[];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@CreateDateColumn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createdAt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6201825" y="1439350"/>
            <a:ext cx="4640700" cy="4755000"/>
          </a:xfrm>
          <a:prstGeom prst="roundRect">
            <a:avLst>
              <a:gd fmla="val 1923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findAll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pageNumber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promptsPerPage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promptsRepository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PromptsService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LIST_SELECT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{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PromptStatus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7DCFFF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PUBLISHED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skip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promptsPerPage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7DCFFF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pageNumber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7DCFFF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E08F68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take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promptsPerPage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{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createdAt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9ECE6A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'DESC'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BACK-END · SÉCURITÉ</a:t>
            </a:r>
            <a:endParaRPr b="1" i="0" sz="1100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EEF1F4"/>
                </a:solidFill>
              </a:rPr>
              <a:t>Requete sql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548650" y="1463050"/>
            <a:ext cx="4640700" cy="4755000"/>
          </a:xfrm>
          <a:prstGeom prst="roundRect">
            <a:avLst>
              <a:gd fmla="val 1923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6"/>
          <p:cNvSpPr txBox="1"/>
          <p:nvPr/>
        </p:nvSpPr>
        <p:spPr>
          <a:xfrm>
            <a:off x="777246" y="1591050"/>
            <a:ext cx="411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auth.controller.ts (extrait simplifié)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 txBox="1"/>
          <p:nvPr/>
        </p:nvSpPr>
        <p:spPr>
          <a:xfrm>
            <a:off x="777250" y="1901950"/>
            <a:ext cx="42399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SELECT id, title, status, "createdAt"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FROM prompts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WHERE status = 'PUBLISHED'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ORDER BY "createdAt" DESC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LIMIT 10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OFFSET 10;</a:t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6595425" y="1439350"/>
            <a:ext cx="385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26"/>
          <p:cNvSpPr txBox="1"/>
          <p:nvPr/>
        </p:nvSpPr>
        <p:spPr>
          <a:xfrm>
            <a:off x="6209025" y="1439350"/>
            <a:ext cx="42399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6DE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06C7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6201825" y="401825"/>
            <a:ext cx="4640700" cy="5792400"/>
          </a:xfrm>
          <a:prstGeom prst="roundRect">
            <a:avLst>
              <a:gd fmla="val 1923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9ECE6A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'prompts'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9ECE6A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'1'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PromptsController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promptsService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PromptsService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findAll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9ECE6A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'pageNumber'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DefaultValuePipe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E08F68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ParseIntPipe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pageNumber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9ECE6A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'promptsPerPage'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DefaultValuePipe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E08F68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ParseIntPipe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promptsPerPage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) {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BB9A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DEC76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promptsService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7AA2F7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findAll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pageNumber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US" sz="1300">
                <a:solidFill>
                  <a:srgbClr val="F7768E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promptsPerPage</a:t>
            </a: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0CAF5"/>
                </a:solidFill>
                <a:highlight>
                  <a:srgbClr val="1A1B26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rgbClr val="C0CAF5"/>
              </a:solidFill>
              <a:highlight>
                <a:srgbClr val="1A1B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Règle métier : protéger le contenu payant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548640" y="1463040"/>
            <a:ext cx="6949440" cy="3840480"/>
          </a:xfrm>
          <a:prstGeom prst="roundRect">
            <a:avLst>
              <a:gd fmla="val 2381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 txBox="1"/>
          <p:nvPr/>
        </p:nvSpPr>
        <p:spPr>
          <a:xfrm>
            <a:off x="777240" y="1591056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prompts.service.ts — findOneBySlug()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777240" y="1901952"/>
            <a:ext cx="6492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const isOwner = currentUserId === prompt.sellerId;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const isFree = PromptsService.isFree(prompt.price);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const hasPurchased = !isOwner &amp;&amp; !isFree &amp;&amp; currentUserId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? await this.hasCompletedPurchase(currentUserId, prompt.id)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: false;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const canViewFullContent = isOwner || isFree || hasPurchased;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return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...prompt,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promptContent: canViewFullContent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? prompt.promptContent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: null,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 txBox="1"/>
          <p:nvPr/>
        </p:nvSpPr>
        <p:spPr>
          <a:xfrm>
            <a:off x="7863840" y="14630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Qui voit le contenu 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7863840" y="2011680"/>
            <a:ext cx="3794760" cy="548640"/>
          </a:xfrm>
          <a:prstGeom prst="roundRect">
            <a:avLst>
              <a:gd fmla="val 20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 txBox="1"/>
          <p:nvPr/>
        </p:nvSpPr>
        <p:spPr>
          <a:xfrm>
            <a:off x="8046720" y="20116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Visiteur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 txBox="1"/>
          <p:nvPr/>
        </p:nvSpPr>
        <p:spPr>
          <a:xfrm>
            <a:off x="10332720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7863840" y="2670048"/>
            <a:ext cx="3794760" cy="548640"/>
          </a:xfrm>
          <a:prstGeom prst="roundRect">
            <a:avLst>
              <a:gd fmla="val 20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8046720" y="267004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Utilisateur sans achat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10332720" y="2670048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7863840" y="3328416"/>
            <a:ext cx="3794760" cy="548640"/>
          </a:xfrm>
          <a:prstGeom prst="roundRect">
            <a:avLst>
              <a:gd fmla="val 20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 txBox="1"/>
          <p:nvPr/>
        </p:nvSpPr>
        <p:spPr>
          <a:xfrm>
            <a:off x="8046720" y="332841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Vendeur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 txBox="1"/>
          <p:nvPr/>
        </p:nvSpPr>
        <p:spPr>
          <a:xfrm>
            <a:off x="10332720" y="3328416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visible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7863840" y="3986784"/>
            <a:ext cx="3794760" cy="548640"/>
          </a:xfrm>
          <a:prstGeom prst="roundRect">
            <a:avLst>
              <a:gd fmla="val 20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7"/>
          <p:cNvSpPr txBox="1"/>
          <p:nvPr/>
        </p:nvSpPr>
        <p:spPr>
          <a:xfrm>
            <a:off x="8046720" y="398678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Achat COMPLETED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10332720" y="3986784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visible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7863840" y="4645152"/>
            <a:ext cx="3794760" cy="548640"/>
          </a:xfrm>
          <a:prstGeom prst="roundRect">
            <a:avLst>
              <a:gd fmla="val 20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 txBox="1"/>
          <p:nvPr/>
        </p:nvSpPr>
        <p:spPr>
          <a:xfrm>
            <a:off x="8046720" y="464515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Prompt gratuit (0 €)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 txBox="1"/>
          <p:nvPr/>
        </p:nvSpPr>
        <p:spPr>
          <a:xfrm>
            <a:off x="10332720" y="4645152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visible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Et dans les listes du catalogue, la colonne n’est même pas lue en base (sélection explicite des colonnes).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8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8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1" i="0" sz="1100" u="none" strike="noStrike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Paiement Stripe et webhook idempotent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8"/>
          <p:cNvSpPr txBox="1"/>
          <p:nvPr/>
        </p:nvSpPr>
        <p:spPr>
          <a:xfrm>
            <a:off x="777240" y="1591056"/>
            <a:ext cx="1065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7955280" y="384048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098" y="398129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8"/>
          <p:cNvSpPr txBox="1"/>
          <p:nvPr/>
        </p:nvSpPr>
        <p:spPr>
          <a:xfrm>
            <a:off x="7955280" y="4617720"/>
            <a:ext cx="3520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sz="10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9"/>
          <p:cNvSpPr txBox="1"/>
          <p:nvPr/>
        </p:nvSpPr>
        <p:spPr>
          <a:xfrm>
            <a:off x="11185874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sz="10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9"/>
          <p:cNvSpPr txBox="1"/>
          <p:nvPr/>
        </p:nvSpPr>
        <p:spPr>
          <a:xfrm>
            <a:off x="822960" y="1920240"/>
            <a:ext cx="274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7400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9"/>
          <p:cNvSpPr txBox="1"/>
          <p:nvPr/>
        </p:nvSpPr>
        <p:spPr>
          <a:xfrm>
            <a:off x="82296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1" sz="4200">
              <a:solidFill>
                <a:srgbClr val="EEF1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9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Application monopage React 19 + TypeScript</a:t>
            </a:r>
            <a:endParaRPr b="0" sz="1600">
              <a:solidFill>
                <a:srgbClr val="9AA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8503920" y="1737360"/>
            <a:ext cx="2926200" cy="2926200"/>
          </a:xfrm>
          <a:prstGeom prst="ellipse">
            <a:avLst/>
          </a:prstGeom>
          <a:solidFill>
            <a:srgbClr val="1A2029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8" name="Google Shape;648;p29"/>
          <p:cNvGrpSpPr/>
          <p:nvPr/>
        </p:nvGrpSpPr>
        <p:grpSpPr>
          <a:xfrm>
            <a:off x="9376410" y="2609850"/>
            <a:ext cx="1181100" cy="1181100"/>
            <a:chOff x="95250" y="95250"/>
            <a:chExt cx="1181100" cy="1181100"/>
          </a:xfrm>
        </p:grpSpPr>
        <p:sp>
          <p:nvSpPr>
            <p:cNvPr id="649" name="Google Shape;649;p29"/>
            <p:cNvSpPr/>
            <p:nvPr/>
          </p:nvSpPr>
          <p:spPr>
            <a:xfrm>
              <a:off x="95250" y="9525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919163" y="1952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1071563" y="1952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95250" y="53340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919163" y="63341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1071563" y="63341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95250" y="971550"/>
              <a:ext cx="1181100" cy="304800"/>
            </a:xfrm>
            <a:prstGeom prst="roundRect">
              <a:avLst>
                <a:gd fmla="val 25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919163" y="10715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1071563" y="1071563"/>
              <a:ext cx="104700" cy="104700"/>
            </a:xfrm>
            <a:prstGeom prst="ellipse">
              <a:avLst/>
            </a:prstGeom>
            <a:solidFill>
              <a:srgbClr val="1A20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0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1" i="0" sz="1100" u="none" strike="noStrike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0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Organisation du front-end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548640" y="1508760"/>
            <a:ext cx="594300" cy="594300"/>
          </a:xfrm>
          <a:prstGeom prst="roundRect">
            <a:avLst>
              <a:gd fmla="val 21537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8" name="Google Shape;6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399" y="16395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0"/>
          <p:cNvSpPr txBox="1"/>
          <p:nvPr/>
        </p:nvSpPr>
        <p:spPr>
          <a:xfrm>
            <a:off x="1325880" y="150876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pages/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3291840" y="150876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Un composant par écran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548640" y="2377440"/>
            <a:ext cx="594300" cy="594300"/>
          </a:xfrm>
          <a:prstGeom prst="roundRect">
            <a:avLst>
              <a:gd fmla="val 21537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2" name="Google Shape;6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399" y="25081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0"/>
          <p:cNvSpPr txBox="1"/>
          <p:nvPr/>
        </p:nvSpPr>
        <p:spPr>
          <a:xfrm>
            <a:off x="1325880" y="237744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components/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 txBox="1"/>
          <p:nvPr/>
        </p:nvSpPr>
        <p:spPr>
          <a:xfrm>
            <a:off x="3291840" y="237744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Composants réutilisables par domaine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548640" y="3246120"/>
            <a:ext cx="594300" cy="594300"/>
          </a:xfrm>
          <a:prstGeom prst="roundRect">
            <a:avLst>
              <a:gd fmla="val 21537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6" name="Google Shape;67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399" y="33768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0"/>
          <p:cNvSpPr txBox="1"/>
          <p:nvPr/>
        </p:nvSpPr>
        <p:spPr>
          <a:xfrm>
            <a:off x="1325880" y="324612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common/api/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3291840" y="324612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Axios, cookie envoyé automatiquement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548640" y="4114800"/>
            <a:ext cx="594300" cy="594300"/>
          </a:xfrm>
          <a:prstGeom prst="roundRect">
            <a:avLst>
              <a:gd fmla="val 21537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0" name="Google Shape;6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399" y="42455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0"/>
          <p:cNvSpPr txBox="1"/>
          <p:nvPr/>
        </p:nvSpPr>
        <p:spPr>
          <a:xfrm>
            <a:off x="1325880" y="411480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hooks/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 txBox="1"/>
          <p:nvPr/>
        </p:nvSpPr>
        <p:spPr>
          <a:xfrm>
            <a:off x="3291840" y="411480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TanStack Query : données serveur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548640" y="4983480"/>
            <a:ext cx="594300" cy="594300"/>
          </a:xfrm>
          <a:prstGeom prst="roundRect">
            <a:avLst>
              <a:gd fmla="val 21537" name="adj"/>
            </a:avLst>
          </a:prstGeom>
          <a:solidFill>
            <a:srgbClr val="E11D48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4" name="Google Shape;68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399" y="51142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0"/>
          <p:cNvSpPr txBox="1"/>
          <p:nvPr/>
        </p:nvSpPr>
        <p:spPr>
          <a:xfrm>
            <a:off x="1325880" y="498348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common/store/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 txBox="1"/>
          <p:nvPr/>
        </p:nvSpPr>
        <p:spPr>
          <a:xfrm>
            <a:off x="3291840" y="498348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Zustand : session, toasts,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6720840" y="1508760"/>
            <a:ext cx="4937700" cy="4206300"/>
          </a:xfrm>
          <a:prstGeom prst="roundRect">
            <a:avLst>
              <a:gd fmla="val 260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0"/>
          <p:cNvSpPr txBox="1"/>
          <p:nvPr/>
        </p:nvSpPr>
        <p:spPr>
          <a:xfrm>
            <a:off x="6995160" y="1737360"/>
            <a:ext cx="4480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Pourquoi TanStack Query + Zustand ?</a:t>
            </a:r>
            <a:endParaRPr b="1" i="0" sz="1700" u="none" strike="noStrike">
              <a:solidFill>
                <a:srgbClr val="F43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6995160" y="2331720"/>
            <a:ext cx="4434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Cache, chargement et erreurs gérés automatiquement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Séparation claire : données serveur ≠ état de l’interface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Beaucoup moins de code répétitif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Plus léger et plus simple que Redux pour ce besoin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Routes protégées et formulaires validés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548640" y="1463040"/>
            <a:ext cx="5440680" cy="4206240"/>
          </a:xfrm>
          <a:prstGeom prst="roundRect">
            <a:avLst>
              <a:gd fmla="val 2174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1"/>
          <p:cNvSpPr txBox="1"/>
          <p:nvPr/>
        </p:nvSpPr>
        <p:spPr>
          <a:xfrm>
            <a:off x="777240" y="159105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ProtectedRoute.tsx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 txBox="1"/>
          <p:nvPr/>
        </p:nvSpPr>
        <p:spPr>
          <a:xfrm>
            <a:off x="777240" y="1901952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export function ProtectedRoute()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const { status } = useAuth();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const location = useLocation();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if (status === "pending")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&lt;PageLoader label="Vérification…" /&gt;;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if (status === "unauthenticated")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&lt;Navigate to="/login" replace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  state={{ from: location.pathname }} /&gt;;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&lt;Outlet /&gt;;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6217920" y="1463040"/>
            <a:ext cx="5440680" cy="4206240"/>
          </a:xfrm>
          <a:prstGeom prst="roundRect">
            <a:avLst>
              <a:gd fmla="val 2174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1"/>
          <p:cNvSpPr txBox="1"/>
          <p:nvPr/>
        </p:nvSpPr>
        <p:spPr>
          <a:xfrm>
            <a:off x="6446520" y="159105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RegisterPage.tsx — react-hook-form + zod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 txBox="1"/>
          <p:nvPr/>
        </p:nvSpPr>
        <p:spPr>
          <a:xfrm>
            <a:off x="6446520" y="1901952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const schema = z.object({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username: z.string().min(3).max(50),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email: z.string().email("E-mail invalide."),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password: z.string().min(6),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confirmPassword: z.string(),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terms: z.boolean().refine((v) =&gt; v === true),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}).refine((d) =&gt; d.password === d.confirmPassword,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path: ["confirmPassword"],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message: "Les mots de passe ne correspondent pas.",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 txBox="1"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Côté client, ces contrôles servent le confort de l’utilisateur : la vraie sécurité reste dans l’API.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2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2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2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EEF1F4"/>
                </a:solidFill>
              </a:rPr>
              <a:t>Prompt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6446520" y="1901952"/>
            <a:ext cx="4983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548640" y="5852160"/>
            <a:ext cx="1110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Côté client, ces contrôles servent le confort de l’utilisateur : la vraie sécurité reste dans l’API.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3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 txBox="1"/>
          <p:nvPr/>
        </p:nvSpPr>
        <p:spPr>
          <a:xfrm>
            <a:off x="548642" y="566925"/>
            <a:ext cx="272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abduljaber-formation-cda-projet-final-promptVerse/5eba1b07-3930-4f30-903f-f5f37cb75edb/scratchpad/diapo/assets/cap_catalogue.jpeg" id="726" name="Google Shape;7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485" y="936424"/>
            <a:ext cx="10661734" cy="551010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3"/>
          <p:cNvSpPr txBox="1"/>
          <p:nvPr/>
        </p:nvSpPr>
        <p:spPr>
          <a:xfrm>
            <a:off x="2646715" y="5830240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Catalogue filtrable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 txBox="1"/>
          <p:nvPr/>
        </p:nvSpPr>
        <p:spPr>
          <a:xfrm>
            <a:off x="4695475" y="-40847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EF1F4"/>
                </a:solidFill>
              </a:rPr>
              <a:t>                       </a:t>
            </a:r>
            <a:r>
              <a:rPr b="1" lang="en-US" sz="3200">
                <a:solidFill>
                  <a:srgbClr val="EEF1F4"/>
                </a:solidFill>
              </a:rPr>
              <a:t>L’application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4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4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4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4"/>
          <p:cNvSpPr txBox="1"/>
          <p:nvPr/>
        </p:nvSpPr>
        <p:spPr>
          <a:xfrm>
            <a:off x="4100322" y="203475"/>
            <a:ext cx="26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L’application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abduljaber-formation-cda-projet-final-promptVerse/5eba1b07-3930-4f30-903f-f5f37cb75edb/scratchpad/diapo/assets/cap_fiche_gratuite.jpeg" id="738" name="Google Shape;7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17" y="889275"/>
            <a:ext cx="10752959" cy="55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4"/>
          <p:cNvSpPr txBox="1"/>
          <p:nvPr/>
        </p:nvSpPr>
        <p:spPr>
          <a:xfrm>
            <a:off x="3033288" y="5882840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Fiche d’un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4"/>
          <p:cNvSpPr txBox="1"/>
          <p:nvPr/>
        </p:nvSpPr>
        <p:spPr>
          <a:xfrm>
            <a:off x="6172200" y="6007608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4"/>
          <p:cNvSpPr txBox="1"/>
          <p:nvPr/>
        </p:nvSpPr>
        <p:spPr>
          <a:xfrm>
            <a:off x="0" y="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meme le logo en bleu tu la pas mis en rose rouge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5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5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5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5"/>
          <p:cNvSpPr txBox="1"/>
          <p:nvPr/>
        </p:nvSpPr>
        <p:spPr>
          <a:xfrm>
            <a:off x="4744792" y="253950"/>
            <a:ext cx="25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L’application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abduljaber-formation-cda-projet-final-promptVerse/5eba1b07-3930-4f30-903f-f5f37cb75edb/scratchpad/diapo/assets/cap_dashboard.jpeg" id="751" name="Google Shape;7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27" y="1003489"/>
            <a:ext cx="10408751" cy="537930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5"/>
          <p:cNvSpPr txBox="1"/>
          <p:nvPr/>
        </p:nvSpPr>
        <p:spPr>
          <a:xfrm>
            <a:off x="2999990" y="6089971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Tableau de bord vendeur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6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6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6"/>
          <p:cNvSpPr txBox="1"/>
          <p:nvPr/>
        </p:nvSpPr>
        <p:spPr>
          <a:xfrm>
            <a:off x="4315243" y="182775"/>
            <a:ext cx="318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L’application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6"/>
          <p:cNvSpPr txBox="1"/>
          <p:nvPr/>
        </p:nvSpPr>
        <p:spPr>
          <a:xfrm>
            <a:off x="548640" y="3520440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6"/>
          <p:cNvSpPr txBox="1"/>
          <p:nvPr/>
        </p:nvSpPr>
        <p:spPr>
          <a:xfrm>
            <a:off x="6172200" y="3520440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6"/>
          <p:cNvSpPr txBox="1"/>
          <p:nvPr/>
        </p:nvSpPr>
        <p:spPr>
          <a:xfrm>
            <a:off x="548640" y="6007608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abduljaber-formation-cda-projet-final-promptVerse/5eba1b07-3930-4f30-903f-f5f37cb75edb/scratchpad/diapo/assets/cap_admin_users.jpeg" id="765" name="Google Shape;7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601" y="864101"/>
            <a:ext cx="10279651" cy="53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6"/>
          <p:cNvSpPr txBox="1"/>
          <p:nvPr/>
        </p:nvSpPr>
        <p:spPr>
          <a:xfrm>
            <a:off x="3446350" y="6281808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Administration des rôles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6"/>
          <p:cNvSpPr txBox="1"/>
          <p:nvPr/>
        </p:nvSpPr>
        <p:spPr>
          <a:xfrm>
            <a:off x="0" y="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meme le logo en bleu tu la pas mis en rose rouge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7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7"/>
          <p:cNvSpPr txBox="1"/>
          <p:nvPr/>
        </p:nvSpPr>
        <p:spPr>
          <a:xfrm>
            <a:off x="822960" y="1920240"/>
            <a:ext cx="2743200" cy="118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i="0" sz="7400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82296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Pensée dès la conception, pas ajoutée à la fin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7"/>
          <p:cNvSpPr/>
          <p:nvPr/>
        </p:nvSpPr>
        <p:spPr>
          <a:xfrm>
            <a:off x="8503920" y="1737360"/>
            <a:ext cx="2926200" cy="2926200"/>
          </a:xfrm>
          <a:prstGeom prst="ellipse">
            <a:avLst/>
          </a:prstGeom>
          <a:solidFill>
            <a:srgbClr val="1F141A"/>
          </a:solidFill>
          <a:ln cap="flat" cmpd="sng" w="12700">
            <a:solidFill>
              <a:srgbClr val="8B1D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7"/>
          <p:cNvSpPr txBox="1"/>
          <p:nvPr/>
        </p:nvSpPr>
        <p:spPr>
          <a:xfrm>
            <a:off x="9204960" y="2578608"/>
            <a:ext cx="1524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>
                <a:solidFill>
                  <a:srgbClr val="FF2D5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b="0" i="0" sz="9600">
              <a:solidFill>
                <a:srgbClr val="FF2D5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8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8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Mesures de sécurité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548640" y="150876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822960" y="178308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1" name="Google Shape;7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778" y="192389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38"/>
          <p:cNvSpPr txBox="1"/>
          <p:nvPr/>
        </p:nvSpPr>
        <p:spPr>
          <a:xfrm>
            <a:off x="1645920" y="178308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Authentification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/>
          <p:cNvSpPr txBox="1"/>
          <p:nvPr/>
        </p:nvSpPr>
        <p:spPr>
          <a:xfrm>
            <a:off x="822960" y="260604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JWT signé, cookie httpOnly + secure + sameSite, bcrypt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4297680" y="150876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4572000" y="178308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8B1D3B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6" name="Google Shape;79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2818" y="192389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38"/>
          <p:cNvSpPr txBox="1"/>
          <p:nvPr/>
        </p:nvSpPr>
        <p:spPr>
          <a:xfrm>
            <a:off x="5394960" y="178308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Contrôle d’accès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 txBox="1"/>
          <p:nvPr/>
        </p:nvSpPr>
        <p:spPr>
          <a:xfrm>
            <a:off x="4572000" y="260604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Guard global + rôles USER / ADMIN / SUPER_ADMIN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8"/>
          <p:cNvSpPr/>
          <p:nvPr/>
        </p:nvSpPr>
        <p:spPr>
          <a:xfrm>
            <a:off x="8046720" y="150876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8"/>
          <p:cNvSpPr/>
          <p:nvPr/>
        </p:nvSpPr>
        <p:spPr>
          <a:xfrm>
            <a:off x="8321040" y="178308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1" name="Google Shape;80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858" y="192389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38"/>
          <p:cNvSpPr txBox="1"/>
          <p:nvPr/>
        </p:nvSpPr>
        <p:spPr>
          <a:xfrm>
            <a:off x="9144000" y="178308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8"/>
          <p:cNvSpPr txBox="1"/>
          <p:nvPr/>
        </p:nvSpPr>
        <p:spPr>
          <a:xfrm>
            <a:off x="8321040" y="260604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DTO avec whitelist, champs inconnus refusés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548640" y="384048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8"/>
          <p:cNvSpPr/>
          <p:nvPr/>
        </p:nvSpPr>
        <p:spPr>
          <a:xfrm>
            <a:off x="822960" y="411480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8B1D3B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6" name="Google Shape;80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778" y="425561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38"/>
          <p:cNvSpPr txBox="1"/>
          <p:nvPr/>
        </p:nvSpPr>
        <p:spPr>
          <a:xfrm>
            <a:off x="1645920" y="411480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Limitation de débit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8"/>
          <p:cNvSpPr txBox="1"/>
          <p:nvPr/>
        </p:nvSpPr>
        <p:spPr>
          <a:xfrm>
            <a:off x="822960" y="493776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Throttler API + limites Nginx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8"/>
          <p:cNvSpPr/>
          <p:nvPr/>
        </p:nvSpPr>
        <p:spPr>
          <a:xfrm>
            <a:off x="4297680" y="384048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8"/>
          <p:cNvSpPr/>
          <p:nvPr/>
        </p:nvSpPr>
        <p:spPr>
          <a:xfrm>
            <a:off x="4572000" y="411480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1" name="Google Shape;811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2818" y="425561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38"/>
          <p:cNvSpPr txBox="1"/>
          <p:nvPr/>
        </p:nvSpPr>
        <p:spPr>
          <a:xfrm>
            <a:off x="5394960" y="411480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Injection SQL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8"/>
          <p:cNvSpPr txBox="1"/>
          <p:nvPr/>
        </p:nvSpPr>
        <p:spPr>
          <a:xfrm>
            <a:off x="4572000" y="493776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Requêtes paramétrées par TypeORM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8"/>
          <p:cNvSpPr/>
          <p:nvPr/>
        </p:nvSpPr>
        <p:spPr>
          <a:xfrm>
            <a:off x="8046720" y="3840480"/>
            <a:ext cx="3520500" cy="2103000"/>
          </a:xfrm>
          <a:prstGeom prst="roundRect">
            <a:avLst>
              <a:gd fmla="val 5217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8"/>
          <p:cNvSpPr/>
          <p:nvPr/>
        </p:nvSpPr>
        <p:spPr>
          <a:xfrm>
            <a:off x="8321040" y="411480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8B1D3B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6" name="Google Shape;816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858" y="425561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8"/>
          <p:cNvSpPr txBox="1"/>
          <p:nvPr/>
        </p:nvSpPr>
        <p:spPr>
          <a:xfrm>
            <a:off x="9144000" y="411480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Transport et en-têtes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8321040" y="4937760"/>
            <a:ext cx="30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HTTPS, HSTS, Helmet, CORS restreint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9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9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9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RGPD et accessibilité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548640" y="1508760"/>
            <a:ext cx="5440800" cy="4526400"/>
          </a:xfrm>
          <a:prstGeom prst="roundRect">
            <a:avLst>
              <a:gd fmla="val 242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0" name="Google Shape;8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" y="1933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9"/>
          <p:cNvSpPr txBox="1"/>
          <p:nvPr/>
        </p:nvSpPr>
        <p:spPr>
          <a:xfrm>
            <a:off x="1691640" y="178308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Données personnelles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9"/>
          <p:cNvSpPr txBox="1"/>
          <p:nvPr/>
        </p:nvSpPr>
        <p:spPr>
          <a:xfrm>
            <a:off x="822960" y="2697480"/>
            <a:ext cx="4937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Collecte minimale : email, pseudo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Mot de passe haché, jamais en clair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Aucune donnée bancaire : tout passe par Stripe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Acceptation des conditions à l’inscription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Suppression du compte depuis les paramètres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9"/>
          <p:cNvSpPr/>
          <p:nvPr/>
        </p:nvSpPr>
        <p:spPr>
          <a:xfrm>
            <a:off x="6217920" y="1508760"/>
            <a:ext cx="5440800" cy="4526400"/>
          </a:xfrm>
          <a:prstGeom prst="roundRect">
            <a:avLst>
              <a:gd fmla="val 242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9"/>
          <p:cNvSpPr/>
          <p:nvPr/>
        </p:nvSpPr>
        <p:spPr>
          <a:xfrm>
            <a:off x="6492240" y="1783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8B1D3B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5" name="Google Shape;83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116" y="1933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39"/>
          <p:cNvSpPr txBox="1"/>
          <p:nvPr/>
        </p:nvSpPr>
        <p:spPr>
          <a:xfrm>
            <a:off x="7360920" y="178308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Accessibilité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9"/>
          <p:cNvSpPr txBox="1"/>
          <p:nvPr/>
        </p:nvSpPr>
        <p:spPr>
          <a:xfrm>
            <a:off x="6492240" y="2697480"/>
            <a:ext cx="4937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Chaque champ a un libellé (label / htmlFor)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Textes alternatifs sur les images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Messages d’erreur en texte sous le champ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Thème sombre à fort contraste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Audit RGAA complet : à venir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0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0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0"/>
          <p:cNvSpPr txBox="1"/>
          <p:nvPr/>
        </p:nvSpPr>
        <p:spPr>
          <a:xfrm>
            <a:off x="822960" y="1920240"/>
            <a:ext cx="2743200" cy="118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i="0" sz="74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0"/>
          <p:cNvSpPr txBox="1"/>
          <p:nvPr/>
        </p:nvSpPr>
        <p:spPr>
          <a:xfrm>
            <a:off x="82296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0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Des critères d’acceptation aux tests automatisés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0"/>
          <p:cNvSpPr/>
          <p:nvPr/>
        </p:nvSpPr>
        <p:spPr>
          <a:xfrm>
            <a:off x="8503920" y="1737360"/>
            <a:ext cx="2926200" cy="2926200"/>
          </a:xfrm>
          <a:prstGeom prst="ellipse">
            <a:avLst/>
          </a:prstGeom>
          <a:solidFill>
            <a:srgbClr val="1A2029"/>
          </a:solidFill>
          <a:ln cap="flat" cmpd="sng" w="12700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0"/>
          <p:cNvSpPr txBox="1"/>
          <p:nvPr/>
        </p:nvSpPr>
        <p:spPr>
          <a:xfrm>
            <a:off x="8595352" y="1842900"/>
            <a:ext cx="2743200" cy="271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0">
                <a:solidFill>
                  <a:srgbClr val="FF2D5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science</a:t>
            </a:r>
            <a:endParaRPr b="0" i="0" sz="10000">
              <a:solidFill>
                <a:srgbClr val="FF2D5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1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1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1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1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 unitaires et jeu d’essai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1"/>
          <p:cNvSpPr/>
          <p:nvPr/>
        </p:nvSpPr>
        <p:spPr>
          <a:xfrm>
            <a:off x="548640" y="1508760"/>
            <a:ext cx="3474600" cy="2194500"/>
          </a:xfrm>
          <a:prstGeom prst="roundRect">
            <a:avLst>
              <a:gd fmla="val 5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1"/>
          <p:cNvSpPr txBox="1"/>
          <p:nvPr/>
        </p:nvSpPr>
        <p:spPr>
          <a:xfrm>
            <a:off x="548640" y="1691640"/>
            <a:ext cx="347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18 / 18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1"/>
          <p:cNvSpPr txBox="1"/>
          <p:nvPr/>
        </p:nvSpPr>
        <p:spPr>
          <a:xfrm>
            <a:off x="548640" y="283464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tests unitaires Jest réussis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1"/>
          <p:cNvSpPr/>
          <p:nvPr/>
        </p:nvSpPr>
        <p:spPr>
          <a:xfrm>
            <a:off x="548640" y="3931920"/>
            <a:ext cx="3474600" cy="2194500"/>
          </a:xfrm>
          <a:prstGeom prst="roundRect">
            <a:avLst>
              <a:gd fmla="val 500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1"/>
          <p:cNvSpPr txBox="1"/>
          <p:nvPr/>
        </p:nvSpPr>
        <p:spPr>
          <a:xfrm>
            <a:off x="548640" y="4114800"/>
            <a:ext cx="34746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10 / 11</a:t>
            </a:r>
            <a:endParaRPr b="1" i="0" sz="60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1"/>
          <p:cNvSpPr txBox="1"/>
          <p:nvPr/>
        </p:nvSpPr>
        <p:spPr>
          <a:xfrm>
            <a:off x="548640" y="525780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scénarios du jeu d’essai conformes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1"/>
          <p:cNvSpPr/>
          <p:nvPr/>
        </p:nvSpPr>
        <p:spPr>
          <a:xfrm>
            <a:off x="4297680" y="1508760"/>
            <a:ext cx="7360800" cy="3246000"/>
          </a:xfrm>
          <a:prstGeom prst="roundRect">
            <a:avLst>
              <a:gd fmla="val 2817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1"/>
          <p:cNvSpPr txBox="1"/>
          <p:nvPr/>
        </p:nvSpPr>
        <p:spPr>
          <a:xfrm>
            <a:off x="4526280" y="1636776"/>
            <a:ext cx="690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purchases.service.spec.ts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1"/>
          <p:cNvSpPr txBox="1"/>
          <p:nvPr/>
        </p:nvSpPr>
        <p:spPr>
          <a:xfrm>
            <a:off x="4526280" y="1947672"/>
            <a:ext cx="69036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it('is idempotent: a second completed event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for the same session is a no-op', async () =&gt;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findOnePurchase.mockResolvedValue({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  ...purchase, status: PurchaseStatus.COMPLETED,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await service.handleWebhookEvent(Buffer.from('{}'), 'sig');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expect(savePurchase).not.toHaveBeenCalled();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  expect(usersService.save).not.toHaveBeenCalled();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1"/>
          <p:cNvSpPr txBox="1"/>
          <p:nvPr/>
        </p:nvSpPr>
        <p:spPr>
          <a:xfrm>
            <a:off x="4297680" y="4937760"/>
            <a:ext cx="736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Unitaires : </a:t>
            </a: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services des prompts, des achats et de l’administration, avec des mocks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Jeu d’essai : </a:t>
            </a: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vraies requêtes sur l’API (achat de son propre prompt, prompt gratuit, webhook falsifié…)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Écart analysé : </a:t>
            </a: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clé Stripe de test invalide en local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2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2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2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2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3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3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3"/>
          <p:cNvSpPr txBox="1"/>
          <p:nvPr/>
        </p:nvSpPr>
        <p:spPr>
          <a:xfrm>
            <a:off x="822960" y="1920240"/>
            <a:ext cx="2743200" cy="118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i="0" sz="74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3"/>
          <p:cNvSpPr txBox="1"/>
          <p:nvPr/>
        </p:nvSpPr>
        <p:spPr>
          <a:xfrm>
            <a:off x="822960" y="3154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DevOps et déploiement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Du git push à la 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8503920" y="1737360"/>
            <a:ext cx="2926200" cy="2926200"/>
          </a:xfrm>
          <a:prstGeom prst="ellipse">
            <a:avLst/>
          </a:prstGeom>
          <a:solidFill>
            <a:srgbClr val="1A2029"/>
          </a:solidFill>
          <a:ln cap="flat" cmpd="sng" w="12700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3"/>
          <p:cNvSpPr txBox="1"/>
          <p:nvPr/>
        </p:nvSpPr>
        <p:spPr>
          <a:xfrm>
            <a:off x="8595350" y="1988947"/>
            <a:ext cx="2743200" cy="271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0" u="none" strike="noStrike">
                <a:solidFill>
                  <a:srgbClr val="FF2D5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all_inclusive</a:t>
            </a:r>
            <a:endParaRPr b="0" i="0" sz="10000" u="none" strike="noStrike">
              <a:solidFill>
                <a:srgbClr val="FF2D5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4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4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4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Conteneurisation avec Docker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4"/>
          <p:cNvSpPr/>
          <p:nvPr/>
        </p:nvSpPr>
        <p:spPr>
          <a:xfrm>
            <a:off x="548640" y="1508760"/>
            <a:ext cx="2880300" cy="4572000"/>
          </a:xfrm>
          <a:prstGeom prst="roundRect">
            <a:avLst>
              <a:gd fmla="val 381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4"/>
          <p:cNvSpPr/>
          <p:nvPr/>
        </p:nvSpPr>
        <p:spPr>
          <a:xfrm>
            <a:off x="777240" y="1737360"/>
            <a:ext cx="548700" cy="548700"/>
          </a:xfrm>
          <a:prstGeom prst="roundRect">
            <a:avLst>
              <a:gd fmla="val 23332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1" name="Google Shape;90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18580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44"/>
          <p:cNvSpPr txBox="1"/>
          <p:nvPr/>
        </p:nvSpPr>
        <p:spPr>
          <a:xfrm>
            <a:off x="1463040" y="169164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Développement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1463040" y="2039112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docker-compose.dev.yml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4"/>
          <p:cNvSpPr txBox="1"/>
          <p:nvPr/>
        </p:nvSpPr>
        <p:spPr>
          <a:xfrm>
            <a:off x="777240" y="2651760"/>
            <a:ext cx="2514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api (rechargement à chaud)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client (Vite)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database (MySQL 8.4)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mailpit (emails de test)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4"/>
          <p:cNvSpPr/>
          <p:nvPr/>
        </p:nvSpPr>
        <p:spPr>
          <a:xfrm>
            <a:off x="3611880" y="1508760"/>
            <a:ext cx="2880300" cy="4572000"/>
          </a:xfrm>
          <a:prstGeom prst="roundRect">
            <a:avLst>
              <a:gd fmla="val 3810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4"/>
          <p:cNvSpPr/>
          <p:nvPr/>
        </p:nvSpPr>
        <p:spPr>
          <a:xfrm>
            <a:off x="3840480" y="1737360"/>
            <a:ext cx="548700" cy="548700"/>
          </a:xfrm>
          <a:prstGeom prst="roundRect">
            <a:avLst>
              <a:gd fmla="val 23332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7" name="Google Shape;9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181" y="18580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4"/>
          <p:cNvSpPr txBox="1"/>
          <p:nvPr/>
        </p:nvSpPr>
        <p:spPr>
          <a:xfrm>
            <a:off x="4526280" y="169164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4"/>
          <p:cNvSpPr txBox="1"/>
          <p:nvPr/>
        </p:nvSpPr>
        <p:spPr>
          <a:xfrm>
            <a:off x="4526280" y="2039112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docker-compose.prod.yml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4"/>
          <p:cNvSpPr txBox="1"/>
          <p:nvPr/>
        </p:nvSpPr>
        <p:spPr>
          <a:xfrm>
            <a:off x="3840480" y="2651760"/>
            <a:ext cx="2514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nginx (HTTPS, reverse proxy)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api (image Docker Hub)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client (image Docker Hub)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database (volume persistant)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4"/>
          <p:cNvSpPr/>
          <p:nvPr/>
        </p:nvSpPr>
        <p:spPr>
          <a:xfrm>
            <a:off x="6766560" y="1508760"/>
            <a:ext cx="4892100" cy="4572000"/>
          </a:xfrm>
          <a:prstGeom prst="roundRect">
            <a:avLst>
              <a:gd fmla="val 2000" name="adj"/>
            </a:avLst>
          </a:prstGeom>
          <a:solidFill>
            <a:srgbClr val="0A0D11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4"/>
          <p:cNvSpPr txBox="1"/>
          <p:nvPr/>
        </p:nvSpPr>
        <p:spPr>
          <a:xfrm>
            <a:off x="6995160" y="1636776"/>
            <a:ext cx="443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Dockerfile multi-stage de l’API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4"/>
          <p:cNvSpPr txBox="1"/>
          <p:nvPr/>
        </p:nvSpPr>
        <p:spPr>
          <a:xfrm>
            <a:off x="6995160" y="1947672"/>
            <a:ext cx="4434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# 3 étapes : build → dépendances → image finale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node:22-alpine AS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RUN npm ci &amp;&amp; npm run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node:22-alpine AS deps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RUN npm ci --omit=dev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node:22-alpine AS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 /app/dist ./dist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USER node            # pas de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# docker-entrypoint.sh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DEE8"/>
                </a:solidFill>
                <a:latin typeface="Courier New"/>
                <a:ea typeface="Courier New"/>
                <a:cs typeface="Courier New"/>
                <a:sym typeface="Courier New"/>
              </a:rPr>
              <a:t>attendre MySQL → migration:run → node dist/main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5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5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5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45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Pipeline CI/CD GitHub Actions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5"/>
          <p:cNvSpPr/>
          <p:nvPr/>
        </p:nvSpPr>
        <p:spPr>
          <a:xfrm>
            <a:off x="548640" y="1463040"/>
            <a:ext cx="11109900" cy="35661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1000/-home-abduljaber-formation-cda-projet-final-promptVerse/5eba1b07-3930-4f30-903f-f5f37cb75edb/scratchpad/diapo/assets/cicd.png" id="924" name="Google Shape;9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746" y="1645920"/>
            <a:ext cx="9667748" cy="32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45"/>
          <p:cNvSpPr txBox="1"/>
          <p:nvPr/>
        </p:nvSpPr>
        <p:spPr>
          <a:xfrm>
            <a:off x="548640" y="5257800"/>
            <a:ext cx="26517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1" i="0" lang="en-US" sz="16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 back</a:t>
            </a:r>
            <a:endParaRPr b="1" i="0" sz="16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5"/>
          <p:cNvSpPr txBox="1"/>
          <p:nvPr/>
        </p:nvSpPr>
        <p:spPr>
          <a:xfrm>
            <a:off x="548640" y="56235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lint · Jest · couverture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5"/>
          <p:cNvSpPr txBox="1"/>
          <p:nvPr/>
        </p:nvSpPr>
        <p:spPr>
          <a:xfrm>
            <a:off x="3364992" y="5257800"/>
            <a:ext cx="26517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6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 front</a:t>
            </a:r>
            <a:endParaRPr b="1" i="0" sz="16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5"/>
          <p:cNvSpPr txBox="1"/>
          <p:nvPr/>
        </p:nvSpPr>
        <p:spPr>
          <a:xfrm>
            <a:off x="3364992" y="56235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lint · build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5"/>
          <p:cNvSpPr txBox="1"/>
          <p:nvPr/>
        </p:nvSpPr>
        <p:spPr>
          <a:xfrm>
            <a:off x="6181344" y="5257800"/>
            <a:ext cx="26517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1" i="0" lang="en-US" sz="16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1" i="0" sz="16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5"/>
          <p:cNvSpPr txBox="1"/>
          <p:nvPr/>
        </p:nvSpPr>
        <p:spPr>
          <a:xfrm>
            <a:off x="6181344" y="56235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build + push Docker 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5"/>
          <p:cNvSpPr txBox="1"/>
          <p:nvPr/>
        </p:nvSpPr>
        <p:spPr>
          <a:xfrm>
            <a:off x="8997696" y="5257800"/>
            <a:ext cx="26517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US" sz="1600" u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Déploiement</a:t>
            </a:r>
            <a:endParaRPr b="1" i="0" sz="16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5"/>
          <p:cNvSpPr txBox="1"/>
          <p:nvPr/>
        </p:nvSpPr>
        <p:spPr>
          <a:xfrm>
            <a:off x="8997696" y="56235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scp + ssh sur le VPS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6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6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6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46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Mise en production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6"/>
          <p:cNvSpPr/>
          <p:nvPr/>
        </p:nvSpPr>
        <p:spPr>
          <a:xfrm>
            <a:off x="548640" y="150876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3" name="Google Shape;94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6495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6"/>
          <p:cNvSpPr txBox="1"/>
          <p:nvPr/>
        </p:nvSpPr>
        <p:spPr>
          <a:xfrm>
            <a:off x="1417320" y="1490472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VPS Linux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6"/>
          <p:cNvSpPr txBox="1"/>
          <p:nvPr/>
        </p:nvSpPr>
        <p:spPr>
          <a:xfrm>
            <a:off x="1417320" y="183794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Docker Compose de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6"/>
          <p:cNvSpPr/>
          <p:nvPr/>
        </p:nvSpPr>
        <p:spPr>
          <a:xfrm>
            <a:off x="548640" y="2423160"/>
            <a:ext cx="640200" cy="640200"/>
          </a:xfrm>
          <a:prstGeom prst="roundRect">
            <a:avLst>
              <a:gd fmla="val 19999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7" name="Google Shape;94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58" y="25639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46"/>
          <p:cNvSpPr txBox="1"/>
          <p:nvPr/>
        </p:nvSpPr>
        <p:spPr>
          <a:xfrm>
            <a:off x="1417320" y="2404872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6"/>
          <p:cNvSpPr txBox="1"/>
          <p:nvPr/>
        </p:nvSpPr>
        <p:spPr>
          <a:xfrm>
            <a:off x="1417320" y="275234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Seul service exposé (80 / 443)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6"/>
          <p:cNvSpPr/>
          <p:nvPr/>
        </p:nvSpPr>
        <p:spPr>
          <a:xfrm>
            <a:off x="548640" y="333756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1" name="Google Shape;95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458" y="3478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46"/>
          <p:cNvSpPr txBox="1"/>
          <p:nvPr/>
        </p:nvSpPr>
        <p:spPr>
          <a:xfrm>
            <a:off x="1417320" y="3319272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6"/>
          <p:cNvSpPr txBox="1"/>
          <p:nvPr/>
        </p:nvSpPr>
        <p:spPr>
          <a:xfrm>
            <a:off x="1417320" y="366674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Certificat Let’s Encrypt via Certbot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6"/>
          <p:cNvSpPr/>
          <p:nvPr/>
        </p:nvSpPr>
        <p:spPr>
          <a:xfrm>
            <a:off x="548640" y="425196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5" name="Google Shape;955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58" y="43927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46"/>
          <p:cNvSpPr txBox="1"/>
          <p:nvPr/>
        </p:nvSpPr>
        <p:spPr>
          <a:xfrm>
            <a:off x="1417320" y="4233672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6"/>
          <p:cNvSpPr txBox="1"/>
          <p:nvPr/>
        </p:nvSpPr>
        <p:spPr>
          <a:xfrm>
            <a:off x="1417320" y="458114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Volumes MySQL et uploads persistants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6"/>
          <p:cNvSpPr/>
          <p:nvPr/>
        </p:nvSpPr>
        <p:spPr>
          <a:xfrm>
            <a:off x="548640" y="5166360"/>
            <a:ext cx="640200" cy="640200"/>
          </a:xfrm>
          <a:prstGeom prst="roundRect">
            <a:avLst>
              <a:gd fmla="val 20000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9" name="Google Shape;95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458" y="53071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46"/>
          <p:cNvSpPr txBox="1"/>
          <p:nvPr/>
        </p:nvSpPr>
        <p:spPr>
          <a:xfrm>
            <a:off x="1417320" y="5148072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Retour arrière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6"/>
          <p:cNvSpPr txBox="1"/>
          <p:nvPr/>
        </p:nvSpPr>
        <p:spPr>
          <a:xfrm>
            <a:off x="1417320" y="549554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Images taguées par commit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6"/>
          <p:cNvSpPr/>
          <p:nvPr/>
        </p:nvSpPr>
        <p:spPr>
          <a:xfrm>
            <a:off x="5852160" y="1508760"/>
            <a:ext cx="5806500" cy="4526400"/>
          </a:xfrm>
          <a:prstGeom prst="roundRect">
            <a:avLst>
              <a:gd fmla="val 2424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1000/-home-abduljaber-formation-cda-projet-final-promptVerse/5eba1b07-3930-4f30-903f-f5f37cb75edb/scratchpad/diapo/assets/cap_accueil.jpeg" id="963" name="Google Shape;963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5040" y="2068822"/>
            <a:ext cx="5440679" cy="2811794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46"/>
          <p:cNvSpPr txBox="1"/>
          <p:nvPr/>
        </p:nvSpPr>
        <p:spPr>
          <a:xfrm>
            <a:off x="5852160" y="5349240"/>
            <a:ext cx="580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https://promptverse.biz</a:t>
            </a:r>
            <a:endParaRPr b="1" i="0" sz="20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7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VEILLE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7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Veille sur les vulnérabilités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7"/>
          <p:cNvSpPr txBox="1"/>
          <p:nvPr/>
        </p:nvSpPr>
        <p:spPr>
          <a:xfrm>
            <a:off x="548640" y="1371600"/>
            <a:ext cx="11109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Sources : OWASP Top 10 · CERT-FR / ANSSI · GitHub Advisory Database · npm audit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7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7"/>
          <p:cNvSpPr txBox="1"/>
          <p:nvPr/>
        </p:nvSpPr>
        <p:spPr>
          <a:xfrm>
            <a:off x="548640" y="201168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7"/>
          <p:cNvSpPr txBox="1"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vulnérabilité côté client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7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47"/>
          <p:cNvSpPr txBox="1"/>
          <p:nvPr/>
        </p:nvSpPr>
        <p:spPr>
          <a:xfrm>
            <a:off x="548640" y="42062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A524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5A52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7"/>
          <p:cNvSpPr txBox="1"/>
          <p:nvPr/>
        </p:nvSpPr>
        <p:spPr>
          <a:xfrm>
            <a:off x="548640" y="5257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alertes côté API (npm audit)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7"/>
          <p:cNvSpPr/>
          <p:nvPr/>
        </p:nvSpPr>
        <p:spPr>
          <a:xfrm>
            <a:off x="4389120" y="1920240"/>
            <a:ext cx="7269480" cy="4206240"/>
          </a:xfrm>
          <a:prstGeom prst="roundRect">
            <a:avLst>
              <a:gd fmla="val 260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47"/>
          <p:cNvSpPr/>
          <p:nvPr/>
        </p:nvSpPr>
        <p:spPr>
          <a:xfrm>
            <a:off x="4663440" y="2194560"/>
            <a:ext cx="640080" cy="640080"/>
          </a:xfrm>
          <a:prstGeom prst="roundRect">
            <a:avLst>
              <a:gd fmla="val 20000" name="adj"/>
            </a:avLst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3" name="Google Shape;98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4258" y="2335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7"/>
          <p:cNvSpPr txBox="1"/>
          <p:nvPr/>
        </p:nvSpPr>
        <p:spPr>
          <a:xfrm>
            <a:off x="5486400" y="219456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Faille trouvée dans notre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7"/>
          <p:cNvSpPr txBox="1"/>
          <p:nvPr/>
        </p:nvSpPr>
        <p:spPr>
          <a:xfrm>
            <a:off x="4663440" y="301752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L’envoi d’images accepte tout type « image/* », y compris le SVG, qui peut contenir du JavaScript (risque de XSS stocké). Le type MIME est en plus déclaré par le client.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7"/>
          <p:cNvSpPr txBox="1"/>
          <p:nvPr/>
        </p:nvSpPr>
        <p:spPr>
          <a:xfrm>
            <a:off x="4663440" y="425196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Correctif prévu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7"/>
          <p:cNvSpPr txBox="1"/>
          <p:nvPr/>
        </p:nvSpPr>
        <p:spPr>
          <a:xfrm>
            <a:off x="4663440" y="4663440"/>
            <a:ext cx="6766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Liste blanche : JPEG, PNG, WebP uniquement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Contrôle de la signature binaire du fichier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Mise à jour des dépendances + npm audit dans la 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8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8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8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PERSPECTIVES</a:t>
            </a:r>
            <a:endParaRPr b="1" i="0" sz="11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8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Évolutions du projet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8"/>
          <p:cNvSpPr/>
          <p:nvPr/>
        </p:nvSpPr>
        <p:spPr>
          <a:xfrm>
            <a:off x="548640" y="155448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8"/>
          <p:cNvSpPr/>
          <p:nvPr/>
        </p:nvSpPr>
        <p:spPr>
          <a:xfrm>
            <a:off x="822960" y="182880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9" name="Google Shape;99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" y="19796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8"/>
          <p:cNvSpPr txBox="1"/>
          <p:nvPr/>
        </p:nvSpPr>
        <p:spPr>
          <a:xfrm>
            <a:off x="1737360" y="155448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Avis et notes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8"/>
          <p:cNvSpPr/>
          <p:nvPr/>
        </p:nvSpPr>
        <p:spPr>
          <a:xfrm>
            <a:off x="6172200" y="155448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8"/>
          <p:cNvSpPr/>
          <p:nvPr/>
        </p:nvSpPr>
        <p:spPr>
          <a:xfrm>
            <a:off x="6446520" y="182880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3" name="Google Shape;100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7396" y="19796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48"/>
          <p:cNvSpPr txBox="1"/>
          <p:nvPr/>
        </p:nvSpPr>
        <p:spPr>
          <a:xfrm>
            <a:off x="7360920" y="155448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Liste de favoris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8"/>
          <p:cNvSpPr/>
          <p:nvPr/>
        </p:nvSpPr>
        <p:spPr>
          <a:xfrm>
            <a:off x="548640" y="301752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48"/>
          <p:cNvSpPr/>
          <p:nvPr/>
        </p:nvSpPr>
        <p:spPr>
          <a:xfrm>
            <a:off x="822960" y="329184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7" name="Google Shape;100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836" y="34427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48"/>
          <p:cNvSpPr txBox="1"/>
          <p:nvPr/>
        </p:nvSpPr>
        <p:spPr>
          <a:xfrm>
            <a:off x="1737360" y="301752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Recherche plein texte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8"/>
          <p:cNvSpPr/>
          <p:nvPr/>
        </p:nvSpPr>
        <p:spPr>
          <a:xfrm>
            <a:off x="6172200" y="301752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8"/>
          <p:cNvSpPr/>
          <p:nvPr/>
        </p:nvSpPr>
        <p:spPr>
          <a:xfrm>
            <a:off x="6446520" y="329184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1" name="Google Shape;1011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7396" y="34427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48"/>
          <p:cNvSpPr txBox="1"/>
          <p:nvPr/>
        </p:nvSpPr>
        <p:spPr>
          <a:xfrm>
            <a:off x="7360920" y="301752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Reversement aux vendeurs (Stripe Connect)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8"/>
          <p:cNvSpPr/>
          <p:nvPr/>
        </p:nvSpPr>
        <p:spPr>
          <a:xfrm>
            <a:off x="548640" y="448056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8"/>
          <p:cNvSpPr/>
          <p:nvPr/>
        </p:nvSpPr>
        <p:spPr>
          <a:xfrm>
            <a:off x="822960" y="47548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5" name="Google Shape;1015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836" y="49057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8"/>
          <p:cNvSpPr txBox="1"/>
          <p:nvPr/>
        </p:nvSpPr>
        <p:spPr>
          <a:xfrm>
            <a:off x="1737360" y="448056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Tests End-to-End et meilleure couverture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8"/>
          <p:cNvSpPr/>
          <p:nvPr/>
        </p:nvSpPr>
        <p:spPr>
          <a:xfrm>
            <a:off x="6172200" y="4480560"/>
            <a:ext cx="5440800" cy="1234500"/>
          </a:xfrm>
          <a:prstGeom prst="roundRect">
            <a:avLst>
              <a:gd fmla="val 8889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8"/>
          <p:cNvSpPr/>
          <p:nvPr/>
        </p:nvSpPr>
        <p:spPr>
          <a:xfrm>
            <a:off x="6446520" y="47548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9" name="Google Shape;1019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7396" y="49057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48"/>
          <p:cNvSpPr txBox="1"/>
          <p:nvPr/>
        </p:nvSpPr>
        <p:spPr>
          <a:xfrm>
            <a:off x="7360920" y="4480560"/>
            <a:ext cx="4114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Durcissement : upload, mots de passe, dépendances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9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9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9"/>
          <p:cNvSpPr txBox="1"/>
          <p:nvPr/>
        </p:nvSpPr>
        <p:spPr>
          <a:xfrm>
            <a:off x="822960" y="2011680"/>
            <a:ext cx="73152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DÉMONSTRATION</a:t>
            </a:r>
            <a:endParaRPr b="1" i="0" sz="14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9"/>
          <p:cNvSpPr txBox="1"/>
          <p:nvPr/>
        </p:nvSpPr>
        <p:spPr>
          <a:xfrm>
            <a:off x="822960" y="2423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Place à la démo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9"/>
          <p:cNvSpPr txBox="1"/>
          <p:nvPr/>
        </p:nvSpPr>
        <p:spPr>
          <a:xfrm>
            <a:off x="822960" y="3566160"/>
            <a:ext cx="5486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Inscription et vérification de l’email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Publication d’un prompt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Achat d’un prompt avec Stripe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EF1F4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Espace d’administration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9"/>
          <p:cNvSpPr/>
          <p:nvPr/>
        </p:nvSpPr>
        <p:spPr>
          <a:xfrm>
            <a:off x="7498080" y="2286000"/>
            <a:ext cx="3931800" cy="1097400"/>
          </a:xfrm>
          <a:prstGeom prst="roundRect">
            <a:avLst>
              <a:gd fmla="val 16667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9"/>
          <p:cNvSpPr txBox="1"/>
          <p:nvPr/>
        </p:nvSpPr>
        <p:spPr>
          <a:xfrm>
            <a:off x="7498080" y="2286000"/>
            <a:ext cx="39318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sng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promptverse.biz</a:t>
            </a:r>
            <a:endParaRPr b="1" i="0" sz="2600" u="sng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3" name="Google Shape;1033;p49"/>
          <p:cNvGrpSpPr/>
          <p:nvPr/>
        </p:nvGrpSpPr>
        <p:grpSpPr>
          <a:xfrm>
            <a:off x="8823960" y="3749040"/>
            <a:ext cx="1280100" cy="1353125"/>
            <a:chOff x="0" y="0"/>
            <a:chExt cx="1280100" cy="1353125"/>
          </a:xfrm>
        </p:grpSpPr>
        <p:sp>
          <p:nvSpPr>
            <p:cNvPr id="1034" name="Google Shape;1034;p49"/>
            <p:cNvSpPr/>
            <p:nvPr/>
          </p:nvSpPr>
          <p:spPr>
            <a:xfrm>
              <a:off x="0" y="0"/>
              <a:ext cx="1280100" cy="1280100"/>
            </a:xfrm>
            <a:prstGeom prst="ellipse">
              <a:avLst/>
            </a:prstGeom>
            <a:solidFill>
              <a:srgbClr val="FF2D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9"/>
            <p:cNvSpPr txBox="1"/>
            <p:nvPr/>
          </p:nvSpPr>
          <p:spPr>
            <a:xfrm>
              <a:off x="0" y="73025"/>
              <a:ext cx="12801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play_arrow</a:t>
              </a:r>
              <a:endParaRPr sz="5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0"/>
          <p:cNvSpPr txBox="1"/>
          <p:nvPr/>
        </p:nvSpPr>
        <p:spPr>
          <a:xfrm>
            <a:off x="548640" y="64465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PromptVerse · Certification CDA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0"/>
          <p:cNvSpPr txBox="1"/>
          <p:nvPr/>
        </p:nvSpPr>
        <p:spPr>
          <a:xfrm>
            <a:off x="11185855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0"/>
          <p:cNvSpPr txBox="1"/>
          <p:nvPr/>
        </p:nvSpPr>
        <p:spPr>
          <a:xfrm>
            <a:off x="548640" y="32004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 b="1" i="0" sz="1100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0"/>
          <p:cNvSpPr txBox="1"/>
          <p:nvPr/>
        </p:nvSpPr>
        <p:spPr>
          <a:xfrm>
            <a:off x="548640" y="566928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50"/>
          <p:cNvSpPr/>
          <p:nvPr/>
        </p:nvSpPr>
        <p:spPr>
          <a:xfrm>
            <a:off x="548640" y="1508760"/>
            <a:ext cx="5440800" cy="2057400"/>
          </a:xfrm>
          <a:prstGeom prst="roundRect">
            <a:avLst>
              <a:gd fmla="val 5333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7" name="Google Shape;104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" y="1933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50"/>
          <p:cNvSpPr txBox="1"/>
          <p:nvPr/>
        </p:nvSpPr>
        <p:spPr>
          <a:xfrm>
            <a:off x="1737360" y="1783080"/>
            <a:ext cx="402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Tout le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0"/>
          <p:cNvSpPr txBox="1"/>
          <p:nvPr/>
        </p:nvSpPr>
        <p:spPr>
          <a:xfrm>
            <a:off x="822960" y="2606040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Des besoins à la production, en passant par UML, Merise, le code, les tests et le déploiement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0"/>
          <p:cNvSpPr/>
          <p:nvPr/>
        </p:nvSpPr>
        <p:spPr>
          <a:xfrm>
            <a:off x="6172200" y="1508760"/>
            <a:ext cx="5440800" cy="2057400"/>
          </a:xfrm>
          <a:prstGeom prst="roundRect">
            <a:avLst>
              <a:gd fmla="val 5333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0"/>
          <p:cNvSpPr/>
          <p:nvPr/>
        </p:nvSpPr>
        <p:spPr>
          <a:xfrm>
            <a:off x="6446520" y="1783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2" name="Google Shape;105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7396" y="1933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50"/>
          <p:cNvSpPr txBox="1"/>
          <p:nvPr/>
        </p:nvSpPr>
        <p:spPr>
          <a:xfrm>
            <a:off x="7360920" y="1783080"/>
            <a:ext cx="402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La sécurité dès la conception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0"/>
          <p:cNvSpPr txBox="1"/>
          <p:nvPr/>
        </p:nvSpPr>
        <p:spPr>
          <a:xfrm>
            <a:off x="6446520" y="2606040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Cookie httpOnly, routes privées par défaut, contenu payant masqué, webhook idempotent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50"/>
          <p:cNvSpPr/>
          <p:nvPr/>
        </p:nvSpPr>
        <p:spPr>
          <a:xfrm>
            <a:off x="548640" y="3794760"/>
            <a:ext cx="5440800" cy="2057400"/>
          </a:xfrm>
          <a:prstGeom prst="roundRect">
            <a:avLst>
              <a:gd fmla="val 5333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50"/>
          <p:cNvSpPr/>
          <p:nvPr/>
        </p:nvSpPr>
        <p:spPr>
          <a:xfrm>
            <a:off x="822960" y="4069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7" name="Google Shape;105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836" y="4219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50"/>
          <p:cNvSpPr txBox="1"/>
          <p:nvPr/>
        </p:nvSpPr>
        <p:spPr>
          <a:xfrm>
            <a:off x="1737360" y="4069080"/>
            <a:ext cx="402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Le travail en équipe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50"/>
          <p:cNvSpPr txBox="1"/>
          <p:nvPr/>
        </p:nvSpPr>
        <p:spPr>
          <a:xfrm>
            <a:off x="822960" y="4892040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Backlog partagé, un dépôt commun, des décisions prises à trois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0"/>
          <p:cNvSpPr/>
          <p:nvPr/>
        </p:nvSpPr>
        <p:spPr>
          <a:xfrm>
            <a:off x="6172200" y="3794760"/>
            <a:ext cx="5440800" cy="2057400"/>
          </a:xfrm>
          <a:prstGeom prst="roundRect">
            <a:avLst>
              <a:gd fmla="val 5333" name="adj"/>
            </a:avLst>
          </a:prstGeom>
          <a:solidFill>
            <a:srgbClr val="1A2029"/>
          </a:solidFill>
          <a:ln cap="flat" cmpd="sng" w="9525">
            <a:solidFill>
              <a:srgbClr val="2E3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0"/>
          <p:cNvSpPr/>
          <p:nvPr/>
        </p:nvSpPr>
        <p:spPr>
          <a:xfrm>
            <a:off x="6446520" y="4069080"/>
            <a:ext cx="685800" cy="685800"/>
          </a:xfrm>
          <a:prstGeom prst="roundRect">
            <a:avLst>
              <a:gd fmla="val 18666" name="adj"/>
            </a:avLst>
          </a:prstGeom>
          <a:solidFill>
            <a:srgbClr val="FF2D55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2" name="Google Shape;106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7396" y="42199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50"/>
          <p:cNvSpPr txBox="1"/>
          <p:nvPr/>
        </p:nvSpPr>
        <p:spPr>
          <a:xfrm>
            <a:off x="7360920" y="4069080"/>
            <a:ext cx="402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L’esprit DevOps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0"/>
          <p:cNvSpPr txBox="1"/>
          <p:nvPr/>
        </p:nvSpPr>
        <p:spPr>
          <a:xfrm>
            <a:off x="6446520" y="4892040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Un projet est terminé quand il tourne en production, de façon reproductible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7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1"/>
          <p:cNvSpPr txBox="1"/>
          <p:nvPr/>
        </p:nvSpPr>
        <p:spPr>
          <a:xfrm>
            <a:off x="822960" y="2103120"/>
            <a:ext cx="1051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1F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EF1F4"/>
                </a:solidFill>
                <a:latin typeface="Arial"/>
                <a:ea typeface="Arial"/>
                <a:cs typeface="Arial"/>
                <a:sym typeface="Arial"/>
              </a:rPr>
              <a:t>Merci pour votre attention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1"/>
          <p:cNvSpPr txBox="1"/>
          <p:nvPr/>
        </p:nvSpPr>
        <p:spPr>
          <a:xfrm>
            <a:off x="822960" y="315468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9AA3AE"/>
                </a:solidFill>
                <a:latin typeface="Arial"/>
                <a:ea typeface="Arial"/>
                <a:cs typeface="Arial"/>
                <a:sym typeface="Arial"/>
              </a:rPr>
              <a:t>Place à vos questions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1"/>
          <p:cNvSpPr txBox="1"/>
          <p:nvPr/>
        </p:nvSpPr>
        <p:spPr>
          <a:xfrm>
            <a:off x="822960" y="5120640"/>
            <a:ext cx="105156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strike="noStrike">
                <a:solidFill>
                  <a:srgbClr val="FF2D55"/>
                </a:solidFill>
                <a:latin typeface="Arial"/>
                <a:ea typeface="Arial"/>
                <a:cs typeface="Arial"/>
                <a:sym typeface="Arial"/>
              </a:rPr>
              <a:t>· PromptVerse · promptverse.biz</a:t>
            </a:r>
            <a:endParaRPr b="0" i="0" sz="1400" u="none" strike="noStrike">
              <a:solidFill>
                <a:srgbClr val="FF2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3" name="Google Shape;1073;p51"/>
          <p:cNvGrpSpPr/>
          <p:nvPr/>
        </p:nvGrpSpPr>
        <p:grpSpPr>
          <a:xfrm>
            <a:off x="5638800" y="3886200"/>
            <a:ext cx="914400" cy="975741"/>
            <a:chOff x="0" y="0"/>
            <a:chExt cx="914400" cy="975741"/>
          </a:xfrm>
        </p:grpSpPr>
        <p:sp>
          <p:nvSpPr>
            <p:cNvPr id="1074" name="Google Shape;1074;p51"/>
            <p:cNvSpPr/>
            <p:nvPr/>
          </p:nvSpPr>
          <p:spPr>
            <a:xfrm>
              <a:off x="0" y="0"/>
              <a:ext cx="914400" cy="914400"/>
            </a:xfrm>
            <a:prstGeom prst="roundRect">
              <a:avLst>
                <a:gd fmla="val 20833" name="adj"/>
              </a:avLst>
            </a:prstGeom>
            <a:solidFill>
              <a:srgbClr val="FF2D55"/>
            </a:solidFill>
            <a:ln cap="flat" cmpd="sng" w="12700">
              <a:solidFill>
                <a:srgbClr val="FF2D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51"/>
            <p:cNvSpPr txBox="1"/>
            <p:nvPr/>
          </p:nvSpPr>
          <p:spPr>
            <a:xfrm>
              <a:off x="0" y="6134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chat_bubble</a:t>
              </a:r>
              <a:endParaRPr sz="4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