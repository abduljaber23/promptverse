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image" Target="../media/image-23-3.jpeg"/><Relationship Id="rId4" Type="http://schemas.openxmlformats.org/officeDocument/2006/relationships/image" Target="../media/image-2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CONCEPTEUR DÉVELOPPEUR D’APPLICATIONS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marketplace de prompts pour les IA génératives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Abduljaber AL OMRAN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Simplon · Formation CDA · 2026</a:t>
            </a:r>
            <a:endParaRPr lang="en-US" sz="1600" dirty="0"/>
          </a:p>
        </p:txBody>
      </p:sp>
      <p:pic>
        <p:nvPicPr>
          <p:cNvPr id="6" name="Image 0" descr="/tmp/claude-1000/-home-abduljaber-formation-cda-projet-final-promptVerse/5eba1b07-3930-4f30-903f-f5f37cb75edb/scratchpad/diapo/assets/cap_accuei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89197"/>
            <a:ext cx="5394960" cy="27881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840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A2029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promptverse.biz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et l’équipe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68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et outils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37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et back-end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074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1600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468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337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déploiement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Veille, évolutions et démo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SUIS-JE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920240"/>
            <a:ext cx="1371600" cy="137160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Abduljaber AL OMRAN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Apprenant Concepteur Développeur d’Applications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Simplon · 2025 –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94" y="1898294"/>
            <a:ext cx="409651" cy="40965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6948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visé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Concepteur Développeur d’Applications — niveau 6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306324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94" y="3224174"/>
            <a:ext cx="409651" cy="4096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69480" y="3044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chef-d’œuvre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26948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PromptVerse, réalisé en équipe de trois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309360" y="438912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4550054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69480" y="4370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726948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https://promptverse.biz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PromptVerse, c’est quoi 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marketplace où chacun peut vendre ses prompts optimisés pour les IA génératives, et acheter ceux des autres pour gagner du temps.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812694"/>
            <a:ext cx="409651" cy="4096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filtrables par catégorie et par outil IA (ChatGPT, Midjourney, Claude…)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64992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246" y="2812694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39312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639312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utilisateur publie ses prompts avec prix, aperçu et images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81344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55664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81269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5664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Stripe Checkout ; les prompts à 0 € sont gratuits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997696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72016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950" y="281269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utilisateurs, des rôles, des catégories et des outils IA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clé : le contenu payant d’un prompt reste invisible tant que l’achat n’est pas confirmé.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08760" y="1828800"/>
            <a:ext cx="1737360" cy="173736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Abduljaber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1737360" cy="173736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1828800"/>
            <a:ext cx="1737360" cy="1737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4983480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51023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32B36"/>
          </a:solidFill>
          <a:ln w="12700">
            <a:solidFill>
              <a:srgbClr val="232B3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978" y="5243170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2103120" y="49834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Formateur Simplon : briefs de sprint, suivi et validation des livrables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et organisation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9BF"/>
          </a:solidFill>
          <a:ln w="12700">
            <a:solidFill>
              <a:srgbClr val="0079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7053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par sprint, user stories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7843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980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dev / main / deploy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12464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8633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059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 avant le code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91456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94233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773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138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sprints, revue à chaque fin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754880" y="1554480"/>
            <a:ext cx="69037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23" name="Image 4" descr="/tmp/claude-1000/-home-abduljaber-formation-cda-projet-final-promptVerse/5eba1b07-3930-4f30-903f-f5f37cb75edb/scratchpad/diapo/assets/gan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31752"/>
            <a:ext cx="6537960" cy="192601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54880" y="605332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des sprints (reconstitué depuis l’historique Git)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et outils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87EA4"/>
          </a:solidFill>
          <a:ln w="12700">
            <a:solidFill>
              <a:srgbClr val="087EA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344887"/>
            <a:ext cx="266273" cy="26627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67" y="29849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296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646CFF"/>
          </a:solidFill>
          <a:ln w="12700">
            <a:solidFill>
              <a:srgbClr val="646C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625047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2296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F4154"/>
          </a:solidFill>
          <a:ln w="12700">
            <a:solidFill>
              <a:srgbClr val="FF415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67" y="426512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82296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4905207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+ daisyUI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82296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CA4245"/>
          </a:solidFill>
          <a:ln w="12700">
            <a:solidFill>
              <a:srgbClr val="CA424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67" y="5545287"/>
            <a:ext cx="266273" cy="26627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46304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429768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457200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0234E"/>
          </a:solidFill>
          <a:ln w="12700">
            <a:solidFill>
              <a:srgbClr val="E0234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07" y="2344887"/>
            <a:ext cx="266273" cy="26627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21208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11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457200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83524"/>
          </a:solidFill>
          <a:ln w="12700">
            <a:solidFill>
              <a:srgbClr val="E83524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6607" y="2984967"/>
            <a:ext cx="266273" cy="266273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21208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</a:t>
            </a:r>
            <a:endParaRPr lang="en-US" sz="1500" dirty="0"/>
          </a:p>
        </p:txBody>
      </p:sp>
      <p:sp>
        <p:nvSpPr>
          <p:cNvPr id="34" name="Shape 24"/>
          <p:cNvSpPr/>
          <p:nvPr/>
        </p:nvSpPr>
        <p:spPr>
          <a:xfrm>
            <a:off x="457200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6607" y="3625047"/>
            <a:ext cx="266273" cy="266273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21208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8.4</a:t>
            </a:r>
            <a:endParaRPr lang="en-US" sz="1500" dirty="0"/>
          </a:p>
        </p:txBody>
      </p:sp>
      <p:sp>
        <p:nvSpPr>
          <p:cNvPr id="37" name="Shape 26"/>
          <p:cNvSpPr/>
          <p:nvPr/>
        </p:nvSpPr>
        <p:spPr>
          <a:xfrm>
            <a:off x="457200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607" y="4265127"/>
            <a:ext cx="266273" cy="266273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21208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500" dirty="0"/>
          </a:p>
        </p:txBody>
      </p:sp>
      <p:sp>
        <p:nvSpPr>
          <p:cNvPr id="40" name="Shape 28"/>
          <p:cNvSpPr/>
          <p:nvPr/>
        </p:nvSpPr>
        <p:spPr>
          <a:xfrm>
            <a:off x="457200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607" y="4905207"/>
            <a:ext cx="266273" cy="266273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521208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500" dirty="0"/>
          </a:p>
        </p:txBody>
      </p:sp>
      <p:sp>
        <p:nvSpPr>
          <p:cNvPr id="43" name="Shape 30"/>
          <p:cNvSpPr/>
          <p:nvPr/>
        </p:nvSpPr>
        <p:spPr>
          <a:xfrm>
            <a:off x="457200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99425B"/>
          </a:solidFill>
          <a:ln w="12700">
            <a:solidFill>
              <a:srgbClr val="99425B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6607" y="5545287"/>
            <a:ext cx="266273" cy="266273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521208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</a:t>
            </a:r>
            <a:endParaRPr lang="en-US" sz="1500" dirty="0"/>
          </a:p>
        </p:txBody>
      </p:sp>
      <p:sp>
        <p:nvSpPr>
          <p:cNvPr id="46" name="Shape 32"/>
          <p:cNvSpPr/>
          <p:nvPr/>
        </p:nvSpPr>
        <p:spPr>
          <a:xfrm>
            <a:off x="804672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47" name="Text 33"/>
          <p:cNvSpPr txBox="1"/>
          <p:nvPr/>
        </p:nvSpPr>
        <p:spPr>
          <a:xfrm>
            <a:off x="832104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outils</a:t>
            </a:r>
            <a:endParaRPr lang="en-US" sz="1800" dirty="0"/>
          </a:p>
        </p:txBody>
      </p:sp>
      <p:sp>
        <p:nvSpPr>
          <p:cNvPr id="48" name="Shape 34"/>
          <p:cNvSpPr/>
          <p:nvPr/>
        </p:nvSpPr>
        <p:spPr>
          <a:xfrm>
            <a:off x="832104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5647" y="2344887"/>
            <a:ext cx="266273" cy="266273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896112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51" name="Shape 36"/>
          <p:cNvSpPr/>
          <p:nvPr/>
        </p:nvSpPr>
        <p:spPr>
          <a:xfrm>
            <a:off x="832104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088FF"/>
          </a:solidFill>
          <a:ln w="12700">
            <a:solidFill>
              <a:srgbClr val="2088FF"/>
            </a:solidFill>
            <a:prstDash val="solid"/>
          </a:ln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5647" y="2984967"/>
            <a:ext cx="266273" cy="266273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96112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54" name="Shape 38"/>
          <p:cNvSpPr/>
          <p:nvPr/>
        </p:nvSpPr>
        <p:spPr>
          <a:xfrm>
            <a:off x="832104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5647" y="3625047"/>
            <a:ext cx="266273" cy="266273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896112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500" dirty="0"/>
          </a:p>
        </p:txBody>
      </p:sp>
      <p:sp>
        <p:nvSpPr>
          <p:cNvPr id="57" name="Shape 40"/>
          <p:cNvSpPr/>
          <p:nvPr/>
        </p:nvSpPr>
        <p:spPr>
          <a:xfrm>
            <a:off x="832104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5647" y="4265127"/>
            <a:ext cx="266273" cy="266273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96112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Encrypt</a:t>
            </a:r>
            <a:endParaRPr lang="en-US" sz="1500" dirty="0"/>
          </a:p>
        </p:txBody>
      </p:sp>
      <p:sp>
        <p:nvSpPr>
          <p:cNvPr id="60" name="Shape 42"/>
          <p:cNvSpPr/>
          <p:nvPr/>
        </p:nvSpPr>
        <p:spPr>
          <a:xfrm>
            <a:off x="832104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85EA2D"/>
          </a:solidFill>
          <a:ln w="12700">
            <a:solidFill>
              <a:srgbClr val="85EA2D"/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5647" y="4905207"/>
            <a:ext cx="266273" cy="266273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896112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endParaRPr lang="en-US" sz="1500" dirty="0"/>
          </a:p>
        </p:txBody>
      </p:sp>
      <p:sp>
        <p:nvSpPr>
          <p:cNvPr id="63" name="Shape 44"/>
          <p:cNvSpPr/>
          <p:nvPr/>
        </p:nvSpPr>
        <p:spPr>
          <a:xfrm>
            <a:off x="832104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5647" y="5545287"/>
            <a:ext cx="266273" cy="266273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896112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besoins aux modèles, avant la première ligne de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UML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cas d’utilisation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4066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006" y="1554480"/>
            <a:ext cx="6473907" cy="4572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21040" y="182880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acteurs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Stripe (système externe)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Héritage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 → USER → ADMIN → SUPER_ADMIN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«include»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l’achat inclut la confirmation par webhook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MERISE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conceptuel de données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m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829" y="1600200"/>
            <a:ext cx="7545581" cy="3840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ACHÈTE porte ses propres données (montant, statut, session Stripe) → devient la table purchases dans le MLD.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physique et diagramme de classes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323" y="1554480"/>
            <a:ext cx="4071033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4173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9" name="Image 1" descr="/tmp/claude-1000/-home-abduljaber-formation-cda-projet-final-promptVerse/5eba1b07-3930-4f30-903f-f5f37cb75edb/scratchpad/diapo/assets/clas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491" y="1554480"/>
            <a:ext cx="4301819" cy="4480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tables MySQL · identifiants UUID · montants DECIMAL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TypeORM et énumérations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UML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séquence : l’achat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8368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seq_a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72" y="1481328"/>
            <a:ext cx="3803617" cy="4718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règles métier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589520" y="2468880"/>
            <a:ext cx="548640" cy="5486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PENDING + session Stripe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89520" y="3383280"/>
            <a:ext cx="548640" cy="5486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sur la page Stripe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4297680"/>
            <a:ext cx="548640" cy="5486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297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signé → COMPLETED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89520" y="5212080"/>
            <a:ext cx="548640" cy="548640"/>
          </a:xfrm>
          <a:prstGeom prst="ellipse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débloqué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UX/UI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wireframe à l’application</a:t>
            </a:r>
            <a:endParaRPr lang="en-US" sz="3200" dirty="0"/>
          </a:p>
        </p:txBody>
      </p:sp>
      <p:pic>
        <p:nvPicPr>
          <p:cNvPr id="6" name="Image 0" descr="/tmp/claude-1000/-home-abduljaber-formation-cda-projet-final-promptVerse/5eba1b07-3930-4f30-903f-f5f37cb75edb/scratchpad/diapo/assets/wirefram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1210"/>
            <a:ext cx="3566160" cy="3712779"/>
          </a:xfrm>
          <a:prstGeom prst="rect">
            <a:avLst/>
          </a:prstGeom>
        </p:spPr>
      </p:pic>
      <p:pic>
        <p:nvPicPr>
          <p:cNvPr id="7" name="Image 1" descr="/tmp/claude-1000/-home-abduljaber-formation-cda-projet-final-promptVerse/5eba1b07-3930-4f30-903f-f5f37cb75edb/scratchpad/diapo/assets/maquette_home_h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132" y="1417320"/>
            <a:ext cx="2360695" cy="4480560"/>
          </a:xfrm>
          <a:prstGeom prst="rect">
            <a:avLst/>
          </a:prstGeom>
        </p:spPr>
      </p:pic>
      <p:pic>
        <p:nvPicPr>
          <p:cNvPr id="8" name="Image 2" descr="/tmp/claude-1000/-home-abduljaber-formation-cda-projet-final-promptVerse/5eba1b07-3930-4f30-903f-f5f37cb75edb/scratchpad/diapo/assets/cap_accueil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7902"/>
            <a:ext cx="3520440" cy="181939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343400" y="5989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haute fidélité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8138160" y="5989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Rendu final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et back-end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NestJS organisée en couches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l’application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ar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66" y="1645920"/>
            <a:ext cx="10690109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front ne parle qu’à l’API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point d’entrée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en HTTPS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centralisée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règles côté serveur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 d’une requête dans l’API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54" y="2218334"/>
            <a:ext cx="409651" cy="4096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HTTP, guards, délègue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78608" y="2907792"/>
            <a:ext cx="237744" cy="219456"/>
          </a:xfrm>
          <a:prstGeom prst="rightArrow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2218334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les données entrantes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64608" y="2907792"/>
            <a:ext cx="237744" cy="219456"/>
          </a:xfrm>
          <a:prstGeom prst="rightArrow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20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0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54" y="2218334"/>
            <a:ext cx="409651" cy="40965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2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150608" y="2907792"/>
            <a:ext cx="237744" cy="219456"/>
          </a:xfrm>
          <a:prstGeom prst="rightArrow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06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54" y="2218334"/>
            <a:ext cx="409651" cy="4096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98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436608" y="2907792"/>
            <a:ext cx="237744" cy="219456"/>
          </a:xfrm>
          <a:prstGeom prst="rightArrow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692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332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654" y="2218334"/>
            <a:ext cx="409651" cy="409651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84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persistées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" y="47000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l’achat d’un prompt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77240" y="5010912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/api/v1/purchases/checkout-session  { "promptId": "…"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AuthGuard (cookie JWT)  → ValidationPipe (CreateCheckoutSessionDto : UUID)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PurchasesController.createCheckoutSession()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PurchasesService (règles métier)  → Repository&lt;Purchase&gt;  → MySQL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SÉCURITÉ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: JWT en cookie httpOnly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223760" cy="4754880"/>
          </a:xfrm>
          <a:prstGeom prst="roundRect">
            <a:avLst>
              <a:gd name="adj" fmla="val 1923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910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auth.controller.ts (extrait simplifié)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@Post('login')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@Throttle({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short: { limit: 2, ttl: 1000 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medium: { limit: 5, ttl: 60000, blockDuration: 900000 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@Public()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login(@Body() loginDto: LoginDto,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@Res({ passthrough: true }) res: Response)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accessToken } = await this.authService.login(loginDto);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res.cookie('access_token', accessToken,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true,             // illisible en JS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secure: isProduction,       // HTTPS uniquement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sameSite: 'lax',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1000 * 60 * 60 * 24, // 24 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message: 'Login successful'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645920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10, mot de passe jamais renvoyé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vérifié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pour se connecter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protège le jeton en cas de XSS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global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route est privée sauf @Public()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 la force brute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métier : protéger le contenu payant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949440" cy="3840480"/>
          </a:xfrm>
          <a:prstGeom prst="roundRect">
            <a:avLst>
              <a:gd name="adj" fmla="val 2381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910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prompts.service.ts — findOneBySlug()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isOwner = currentUserId === prompt.sellerId;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isFree = PromptsService.isFree(prompt.price);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hasPurchased = !isOwner &amp;&amp; !isFree &amp;&amp; currentUserId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await this.hasCompletedPurchase(currentUserId, prompt.id)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false;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canViewFullContent = isOwner || isFree || hasPurchased;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...prompt,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promptContent: canViewFullContent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prompt.promptContent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null,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voit le contenu 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63840" y="2011680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2670048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670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sans achat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0" y="26700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3328416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33284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63840" y="3986784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3986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COMPLETED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39867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0" y="4645152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4645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gratuit (0 €)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dans les listes du catalogue, la colonne n’est même pas lue en base (sélection explicite des colonnes).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Stripe et webhook idempotent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4651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910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purchases.service.ts — createCheckoutSession()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10652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(PromptsService.isFree(prompt.price))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BadRequestException({ code: ErrorCodes.PROMPT_IS_FREE 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(prompt.sellerId === buyerId)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BadRequestException({ code: ErrorCodes.CANNOT_PURCHASE_OWN_PROMPT 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(await this.promptsService.hasCompletedPurchase(buyerId, promptId))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ConflictException({ code: ErrorCodes.PROMPT_ALREADY_PURCHASED 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6949440" cy="2560320"/>
          </a:xfrm>
          <a:prstGeom prst="roundRect">
            <a:avLst>
              <a:gd name="adj" fmla="val 3571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398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purchases.service.ts — completePurchase()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50792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Stripe peut renvoyer le même événement plusieurs fois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(purchase.status === PurchaseStatus.COMPLETED) return;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purchase.status = PurchaseStatus.COMPLETED;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this.purchasesRepository.save(purchase);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this.promptsService.incrementSalesCount(purchase.promptId);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seller.balance = Number(seller.balance) + Number(purchase.amount);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361188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840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98" y="3981298"/>
            <a:ext cx="358445" cy="35844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77824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vérifiée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46177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webhook est public mais vérifié sur le corps brut de la requête (rawBody). Une fausse confirmation est rejetée avec une erreur 400.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monopage React 19 + TypeScript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du front-end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6395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08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composant par écran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5081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377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réutilisables par domaine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3768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common/api/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Axios, cookie envoyé automatiquement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1148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4154"/>
          </a:solidFill>
          <a:ln w="12700">
            <a:solidFill>
              <a:srgbClr val="FF415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24555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hooks/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29184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: données serveur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49834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11423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4983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common/store/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329184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: session, toasts, UI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720840" y="15087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TanStack Query + Zustand ?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995160" y="2331720"/>
            <a:ext cx="4434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chargement et erreurs gérés automatiquement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claire : données serveur ≠ état de l’interface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Beaucoup moins de code répétitif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léger et plus simple que Redux pour ce besoin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protégées et formulaires validés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9105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ProtectedRoute.tsx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ProtectedRoute()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status } = useAuth();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location = useLocation();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"pending")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&lt;PageLoader label="Vérification…" /&gt;;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"unauthenticated")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 to="/login" replace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state={{ from: location.pathname }} /&gt;;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&lt;Outlet /&gt;;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9105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RegisterPage.tsx — react-hook-form + zod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0195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schema = z.object({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username: z.string().min(3).max(50),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z.string().email("E-mail invalide."),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z.string().min(6),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confirmPassword: z.string(),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terms: z.boolean().refine((v) =&gt; v === true),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}).refine((d) =&gt; d.password === d.confirmPassword,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["confirmPassword"],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"Les mots de passe ne correspondent pas.",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client, ces contrôles servent le confort de l’utilisateur : la vraie sécurité reste dans l’API.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</a:t>
            </a:r>
            <a:endParaRPr lang="en-US" sz="3200" dirty="0"/>
          </a:p>
        </p:txBody>
      </p:sp>
      <p:pic>
        <p:nvPicPr>
          <p:cNvPr id="6" name="Image 0" descr="/tmp/claude-1000/-home-abduljaber-formation-cda-projet-final-promptVerse/5eba1b07-3930-4f30-903f-f5f37cb75edb/scratchpad/diapo/assets/cap_catalogu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265" y="1417320"/>
            <a:ext cx="4069430" cy="2103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20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filtrable</a:t>
            </a:r>
            <a:endParaRPr lang="en-US" sz="1100" dirty="0"/>
          </a:p>
        </p:txBody>
      </p:sp>
      <p:pic>
        <p:nvPicPr>
          <p:cNvPr id="8" name="Image 1" descr="/tmp/claude-1000/-home-abduljaber-formation-cda-projet-final-promptVerse/5eba1b07-3930-4f30-903f-f5f37cb75edb/scratchpad/diapo/assets/cap_fiche_gratuit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25" y="1417320"/>
            <a:ext cx="4069430" cy="2103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3520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d’un prompt</a:t>
            </a:r>
            <a:endParaRPr lang="en-US" sz="1100" dirty="0"/>
          </a:p>
        </p:txBody>
      </p:sp>
      <p:pic>
        <p:nvPicPr>
          <p:cNvPr id="10" name="Image 2" descr="/tmp/claude-1000/-home-abduljaber-formation-cda-projet-final-promptVerse/5eba1b07-3930-4f30-903f-f5f37cb75edb/scratchpad/diapo/assets/cap_dashboard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265" y="3904488"/>
            <a:ext cx="4069430" cy="2103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60076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vendeur</a:t>
            </a:r>
            <a:endParaRPr lang="en-US" sz="1100" dirty="0"/>
          </a:p>
        </p:txBody>
      </p:sp>
      <p:pic>
        <p:nvPicPr>
          <p:cNvPr id="12" name="Image 3" descr="/tmp/claude-1000/-home-abduljaber-formation-cda-projet-final-promptVerse/5eba1b07-3930-4f30-903f-f5f37cb75edb/scratchpad/diapo/assets/cap_admin_users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25" y="3904488"/>
            <a:ext cx="4069430" cy="21031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172200" y="60076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des rôles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Pensée dès la conception, pas ajoutée à la fin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sécurité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238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signé, cookie httpOnly + secure + sameSite, bcrypt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9238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d’accès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global + rôles USER / ADMIN / SUPER_ADMIN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9238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avec whitelist, champs inconnus refusés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255618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de débit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Throttler API + limites Nginx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255618"/>
            <a:ext cx="358445" cy="35844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9496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SQL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paramétrées par TypeORM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2104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4255618"/>
            <a:ext cx="358445" cy="35844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4400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et en-têtes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HTTPS, HSTS, Helmet, CORS restreint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et accessibilité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339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minimale : email, pseudo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haché, jamais en clair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bancaire : tout passe par Stripe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Acceptation des conditions à l’inscription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du compte depuis les paramètres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150876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93395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champ a un libellé (label / htmlFor)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Textes alternatifs sur les images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d’erreur en texte sous le champ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Thème sombre à fort contraste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RGAA complet : à venir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critères d’acceptation aux tests automatisés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et jeu d’essai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Jest réussis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du jeu d’essai conformes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508760"/>
            <a:ext cx="7360920" cy="3246120"/>
          </a:xfrm>
          <a:prstGeom prst="roundRect">
            <a:avLst>
              <a:gd name="adj" fmla="val 2817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63677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purchases.service.spec.ts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1947672"/>
            <a:ext cx="6903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it('is idempotent: a second completed event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the same session is a no-op', async () =&gt;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findOnePurchase.mockResolvedValue({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...purchase, status: PurchaseStatus.COMPLETED,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service.handleWebhookEvent(Buffer.from('{}'), 'sig');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expect(savePurchase).not.toHaveBeenCalled();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expect(usersService.save).not.toHaveBeenCalled();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937760"/>
            <a:ext cx="7360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des prompts, des achats et de l’administration, avec des mocks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d’essai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vraies requêtes sur l’API (achat de son propre prompt, prompt gratuit, webhook falsifié…)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analysé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Stripe de test invalide en local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déploiement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git push à la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2E384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avec Docker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58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039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docker-compose.dev.yml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(rechargement à chaud)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(Vite)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(MySQL 8.4)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mailpit (emails de test)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11880" y="150876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40480" y="17373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81" y="18580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039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docker-compose.prod.yml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840480" y="265176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(HTTPS, reverse proxy)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(image Docker Hub)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(image Docker Hub)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(volume persistant)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766560" y="1508760"/>
            <a:ext cx="4892040" cy="4572000"/>
          </a:xfrm>
          <a:prstGeom prst="roundRect">
            <a:avLst>
              <a:gd name="adj" fmla="val 2000"/>
            </a:avLst>
          </a:prstGeom>
          <a:solidFill>
            <a:srgbClr val="0A0D11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95160" y="1636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multi-stage de l’API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995160" y="1947672"/>
            <a:ext cx="4434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étapes : build → dépendances → image finale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build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&amp;&amp; npm run build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deps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--omit=dev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production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/app/dist ./dist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            # pas de root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docker-entrypoint.sh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attendre MySQL → migration:run → node dist/main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 GitHub Actions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109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7" name="Image 0" descr="/tmp/claude-1000/-home-abduljaber-formation-cda-projet-final-promptVerse/5eba1b07-3930-4f30-903f-f5f37cb75edb/scratchpad/diapo/assets/ci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746" y="1645920"/>
            <a:ext cx="9667749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back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· Jest · couverture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64992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front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64992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· build Vite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81344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181344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push Docker Hub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97696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997696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+ ssh sur le VPS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64957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490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Linux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837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de production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5639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404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service exposé (80 / 443)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34783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 Let’s Encrypt via Certbot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251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4392778"/>
            <a:ext cx="358445" cy="35844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233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4581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MySQL et uploads persistants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51663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5307178"/>
            <a:ext cx="358445" cy="35844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arrière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1417320" y="5495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taguées par commit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852160" y="1508760"/>
            <a:ext cx="5806440" cy="4526280"/>
          </a:xfrm>
          <a:prstGeom prst="roundRect">
            <a:avLst>
              <a:gd name="adj" fmla="val 2424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pic>
        <p:nvPicPr>
          <p:cNvPr id="27" name="Image 5" descr="/tmp/claude-1000/-home-abduljaber-formation-cda-projet-final-promptVerse/5eba1b07-3930-4f30-903f-f5f37cb75edb/scratchpad/diapo/assets/cap_accueil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068822"/>
            <a:ext cx="5440680" cy="28117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852160" y="53492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https://promptverse.biz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sur les vulnérabilités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OWASP Top 10 · CERT-FR / ANSSI · GitHub Advisory Database · npm audit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 côté client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06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côté API (npm audit)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7269480" cy="4206240"/>
          </a:xfrm>
          <a:prstGeom prst="roundRect">
            <a:avLst>
              <a:gd name="adj" fmla="val 260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4258" y="2335378"/>
            <a:ext cx="358445" cy="35844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86400" y="2194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Faille trouvée dans notre code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0175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L’envoi d’images accepte tout type « image/* », y compris le SVG, qui peut contenir du JavaScript (risque de XSS stocké). Le type MIME est en plus déclaré par le client.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Correctif prévu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6634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blanche : JPEG, PNG, WebP uniquement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la signature binaire du fichier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des dépendances + npm audit dans la CI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Évolutions du projet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796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notes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796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 favoris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291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34427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plein texte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3291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34427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Reversement aux vendeurs (Stripe Connect)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548640" y="44805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296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90575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73736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End-to-End et meilleure couverture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6172200" y="44805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4652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4905756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6092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Durcissement : upload, mots de passe, dépendances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à la démo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 et vérification de l’email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d’un prompt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d’un prompt avec Stripe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d’administration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0" y="2286000"/>
            <a:ext cx="3931920" cy="1097280"/>
          </a:xfrm>
          <a:prstGeom prst="roundRect">
            <a:avLst>
              <a:gd name="adj" fmla="val 16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2286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promptverse.biz</a:t>
            </a:r>
            <a:endParaRPr lang="en-US" sz="2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37490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339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cycle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besoins à la production, en passant par UML, Merise, le code, les tests et le déploiement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508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3395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dès la conception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606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httpOnly, routes privées par défaut, contenu payant masqué, webhook idempotent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069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2199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travail en équipe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partagé, un dépôt commun, des décisions prises à trois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A2029"/>
          </a:solidFill>
          <a:ln w="9525">
            <a:solidFill>
              <a:srgbClr val="2E38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4069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21995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L’esprit DevOps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est terminé quand il tourne en production, de façon reproductible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à vos questions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Abduljaber AL OMRAN · PromptVerse · promptverse.biz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3931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PromptVerse — Présentation CDA</dc:title>
  <dc:subject>PptxGenJS Presentation</dc:subject>
  <dc:creator>Abduljaber AL OMRAN</dc:creator>
  <cp:lastModifiedBy>Abduljaber AL OMRAN</cp:lastModifiedBy>
  <cp:revision>1</cp:revision>
  <dcterms:created xsi:type="dcterms:W3CDTF">2026-09-19T14:21:46Z</dcterms:created>
  <dcterms:modified xsi:type="dcterms:W3CDTF">2026-09-19T14:21:46Z</dcterms:modified>
</cp:coreProperties>
</file>